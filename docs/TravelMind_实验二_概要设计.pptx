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21792"/>
            <a:ext cx="475488" cy="475488"/>
          </a:xfrm>
          <a:prstGeom prst="roundRect">
            <a:avLst/>
          </a:prstGeom>
          <a:solidFill>
            <a:srgbClr val="B94822"/>
          </a:solidFill>
          <a:ln>
            <a:solidFill>
              <a:srgbClr val="B94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94944"/>
            <a:ext cx="320040" cy="23774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1700" b="1">
                <a:solidFill>
                  <a:srgbClr val="FFFDF8"/>
                </a:solidFill>
                <a:latin typeface="微软雅黑" panose="020B0503020204020204" charset="-122"/>
              </a:rPr>
              <a:t>途</a:t>
            </a:r>
            <a:endParaRPr sz="17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61872" y="667512"/>
            <a:ext cx="365760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800" b="1">
                <a:solidFill>
                  <a:srgbClr val="28221B"/>
                </a:solidFill>
                <a:latin typeface="微软雅黑" panose="020B0503020204020204" charset="-122"/>
              </a:rPr>
              <a:t>TravelMind</a:t>
            </a:r>
            <a:endParaRPr sz="18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61872" y="987552"/>
            <a:ext cx="4114800" cy="20116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050" b="1">
                <a:solidFill>
                  <a:srgbClr val="645C50"/>
                </a:solidFill>
                <a:latin typeface="微软雅黑" panose="020B0503020204020204" charset="-122"/>
              </a:rPr>
              <a:t>AI 个性化旅行规划助手</a:t>
            </a:r>
            <a:endParaRPr sz="1050" b="1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105" y="2176145"/>
            <a:ext cx="9875520" cy="527685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2900" b="1">
                <a:solidFill>
                  <a:srgbClr val="B94822"/>
                </a:solidFill>
                <a:latin typeface="微软雅黑" panose="020B0503020204020204" charset="-122"/>
                <a:sym typeface="+mn-ea"/>
              </a:rPr>
              <a:t>多智能体协作、消息结构与记忆隔离方案</a:t>
            </a:r>
            <a:endParaRPr sz="29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3794760"/>
            <a:ext cx="10469880" cy="1325880"/>
          </a:xfrm>
          <a:prstGeom prst="roundRect">
            <a:avLst/>
          </a:prstGeom>
          <a:solidFill>
            <a:srgbClr val="FFFDF8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069080"/>
            <a:ext cx="105156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100" b="1">
                <a:solidFill>
                  <a:srgbClr val="B94822"/>
                </a:solidFill>
                <a:latin typeface="微软雅黑" panose="020B0503020204020204" charset="-122"/>
              </a:rPr>
              <a:t>设计定位</a:t>
            </a:r>
            <a:endParaRPr sz="110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0280" y="3913632"/>
            <a:ext cx="8138160" cy="5029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400" b="1">
                <a:solidFill>
                  <a:srgbClr val="28221B"/>
                </a:solidFill>
                <a:latin typeface="微软雅黑" panose="020B0503020204020204" charset="-122"/>
              </a:rPr>
              <a:t>基于现有 FloatTrip 实现，将隐式的固定工作流重构为“Supervisor 调度 + Worker Agent 分工 + 独立记忆”的可落地设计。</a:t>
            </a:r>
            <a:endParaRPr sz="14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830" b="0">
                <a:solidFill>
                  <a:srgbClr val="645C50"/>
                </a:solidFill>
                <a:latin typeface="微软雅黑" panose="020B0503020204020204" charset="-122"/>
              </a:rPr>
              <a:t>TravelMind · 实验二                         01</a:t>
            </a:r>
            <a:endParaRPr sz="83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219456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000" b="1">
                <a:solidFill>
                  <a:srgbClr val="B94822"/>
                </a:solidFill>
                <a:latin typeface="微软雅黑" panose="020B0503020204020204" charset="-122"/>
              </a:rPr>
              <a:t>概要设计</a:t>
            </a:r>
            <a:endParaRPr sz="100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6072" y="621792"/>
            <a:ext cx="1097280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2500" b="1">
                <a:solidFill>
                  <a:srgbClr val="28221B"/>
                </a:solidFill>
                <a:latin typeface="微软雅黑" panose="020B0503020204020204" charset="-122"/>
              </a:rPr>
              <a:t>多 Agent 架构图：Supervisor 调度全局工作流</a:t>
            </a:r>
            <a:endParaRPr sz="25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0972800" cy="18288"/>
          </a:xfrm>
          <a:prstGeom prst="rect">
            <a:avLst/>
          </a:prstGeom>
          <a:solidFill>
            <a:srgbClr val="2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830" b="0">
                <a:solidFill>
                  <a:srgbClr val="645C50"/>
                </a:solidFill>
                <a:latin typeface="微软雅黑" panose="020B0503020204020204" charset="-122"/>
              </a:rPr>
              <a:t>TravelMind · 实验二：概要设计与详细设计                         03</a:t>
            </a:r>
            <a:endParaRPr sz="83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1463040" cy="658368"/>
          </a:xfrm>
          <a:prstGeom prst="roundRect">
            <a:avLst/>
          </a:prstGeom>
          <a:solidFill>
            <a:srgbClr val="E1EBF6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679192"/>
            <a:ext cx="1207008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1300" b="1">
                <a:solidFill>
                  <a:srgbClr val="375F87"/>
                </a:solidFill>
                <a:latin typeface="微软雅黑" panose="020B0503020204020204" charset="-122"/>
              </a:rPr>
              <a:t>用户请求</a:t>
            </a:r>
            <a:endParaRPr sz="1300" b="1">
              <a:solidFill>
                <a:srgbClr val="375F87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61488" y="2176272"/>
            <a:ext cx="2148840" cy="1225296"/>
          </a:xfrm>
          <a:prstGeom prst="roundRect">
            <a:avLst/>
          </a:prstGeom>
          <a:solidFill>
            <a:srgbClr val="B94822"/>
          </a:solidFill>
          <a:ln>
            <a:solidFill>
              <a:srgbClr val="B94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450592"/>
            <a:ext cx="1737360" cy="5029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1600" b="1">
                <a:solidFill>
                  <a:srgbClr val="FFFDF8"/>
                </a:solidFill>
                <a:latin typeface="微软雅黑" panose="020B0503020204020204" charset="-122"/>
              </a:rPr>
              <a:t>Supervisor
调度中枢</a:t>
            </a:r>
            <a:endParaRPr sz="16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148840" y="2788920"/>
            <a:ext cx="612648" cy="0"/>
          </a:xfrm>
          <a:prstGeom prst="line">
            <a:avLst/>
          </a:prstGeom>
          <a:ln w="17780">
            <a:solidFill>
              <a:srgbClr val="375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77840" y="1783080"/>
            <a:ext cx="2331720" cy="658368"/>
          </a:xfrm>
          <a:prstGeom prst="roundRect">
            <a:avLst/>
          </a:prstGeom>
          <a:solidFill>
            <a:srgbClr val="FFFDF8"/>
          </a:solidFill>
          <a:ln>
            <a:solidFill>
              <a:srgbClr val="30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05855" y="1993392"/>
            <a:ext cx="2057400" cy="20116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1100" b="1">
                <a:solidFill>
                  <a:srgbClr val="30694E"/>
                </a:solidFill>
                <a:latin typeface="微软雅黑" panose="020B0503020204020204" charset="-122"/>
              </a:rPr>
              <a:t>Intent / 需求解析</a:t>
            </a:r>
            <a:endParaRPr sz="1100" b="1">
              <a:solidFill>
                <a:srgbClr val="30694E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 flipV="1">
            <a:off x="4910328" y="2112264"/>
            <a:ext cx="667512" cy="676656"/>
          </a:xfrm>
          <a:prstGeom prst="line">
            <a:avLst/>
          </a:prstGeom>
          <a:ln w="13970">
            <a:solidFill>
              <a:srgbClr val="3069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58200" y="1783080"/>
            <a:ext cx="2331720" cy="658368"/>
          </a:xfrm>
          <a:prstGeom prst="roundRect">
            <a:avLst/>
          </a:prstGeom>
          <a:solidFill>
            <a:srgbClr val="FFFDF8"/>
          </a:solidFill>
          <a:ln>
            <a:solidFill>
              <a:srgbClr val="37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6" y="1993392"/>
            <a:ext cx="2057400" cy="20116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1100" b="1">
                <a:solidFill>
                  <a:srgbClr val="375F87"/>
                </a:solidFill>
                <a:latin typeface="微软雅黑" panose="020B0503020204020204" charset="-122"/>
              </a:rPr>
              <a:t>POI / 事实检索</a:t>
            </a:r>
            <a:endParaRPr sz="1100" b="1">
              <a:solidFill>
                <a:srgbClr val="375F87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 flipV="1">
            <a:off x="4910328" y="2112264"/>
            <a:ext cx="3547872" cy="676656"/>
          </a:xfrm>
          <a:prstGeom prst="line">
            <a:avLst/>
          </a:prstGeom>
          <a:ln w="13970">
            <a:solidFill>
              <a:srgbClr val="375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577840" y="3182112"/>
            <a:ext cx="2331720" cy="658368"/>
          </a:xfrm>
          <a:prstGeom prst="roundRect">
            <a:avLst/>
          </a:prstGeom>
          <a:solidFill>
            <a:srgbClr val="FFFDF8"/>
          </a:solidFill>
          <a:ln>
            <a:solidFill>
              <a:srgbClr val="C48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05855" y="3392424"/>
            <a:ext cx="2057400" cy="20116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1100" b="1">
                <a:solidFill>
                  <a:srgbClr val="C48923"/>
                </a:solidFill>
                <a:latin typeface="微软雅黑" panose="020B0503020204020204" charset="-122"/>
              </a:rPr>
              <a:t>Planner / 行程生成</a:t>
            </a:r>
            <a:endParaRPr sz="1100" b="1">
              <a:solidFill>
                <a:srgbClr val="C48923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4910328" y="2788920"/>
            <a:ext cx="667512" cy="722376"/>
          </a:xfrm>
          <a:prstGeom prst="line">
            <a:avLst/>
          </a:prstGeom>
          <a:ln w="13970">
            <a:solidFill>
              <a:srgbClr val="C489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58200" y="3182112"/>
            <a:ext cx="2331720" cy="658368"/>
          </a:xfrm>
          <a:prstGeom prst="roundRect">
            <a:avLst/>
          </a:prstGeom>
          <a:solidFill>
            <a:srgbClr val="FFFDF8"/>
          </a:solidFill>
          <a:ln>
            <a:solidFill>
              <a:srgbClr val="B94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86216" y="3392424"/>
            <a:ext cx="2057400" cy="20116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1100" b="1">
                <a:solidFill>
                  <a:srgbClr val="B94822"/>
                </a:solidFill>
                <a:latin typeface="微软雅黑" panose="020B0503020204020204" charset="-122"/>
              </a:rPr>
              <a:t>Reviewer / 路线审核</a:t>
            </a:r>
            <a:endParaRPr sz="110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4910328" y="2788920"/>
            <a:ext cx="3547872" cy="722376"/>
          </a:xfrm>
          <a:prstGeom prst="line">
            <a:avLst/>
          </a:prstGeom>
          <a:ln w="13970">
            <a:solidFill>
              <a:srgbClr val="B948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577840" y="4581144"/>
            <a:ext cx="2331720" cy="658368"/>
          </a:xfrm>
          <a:prstGeom prst="roundRect">
            <a:avLst/>
          </a:prstGeom>
          <a:solidFill>
            <a:srgbClr val="FFFDF8"/>
          </a:solidFill>
          <a:ln>
            <a:solidFill>
              <a:srgbClr val="30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05855" y="4791456"/>
            <a:ext cx="2057400" cy="20116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1100" b="1">
                <a:solidFill>
                  <a:srgbClr val="30694E"/>
                </a:solidFill>
                <a:latin typeface="微软雅黑" panose="020B0503020204020204" charset="-122"/>
              </a:rPr>
              <a:t>TimeCheck / 时间核验</a:t>
            </a:r>
            <a:endParaRPr sz="1100" b="1">
              <a:solidFill>
                <a:srgbClr val="30694E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4910328" y="2788920"/>
            <a:ext cx="667512" cy="2121408"/>
          </a:xfrm>
          <a:prstGeom prst="line">
            <a:avLst/>
          </a:prstGeom>
          <a:ln w="13970">
            <a:solidFill>
              <a:srgbClr val="3069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458200" y="4581144"/>
            <a:ext cx="2331720" cy="658368"/>
          </a:xfrm>
          <a:prstGeom prst="roundRect">
            <a:avLst/>
          </a:prstGeom>
          <a:solidFill>
            <a:srgbClr val="FFFDF8"/>
          </a:solidFill>
          <a:ln>
            <a:solidFill>
              <a:srgbClr val="37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86216" y="4791456"/>
            <a:ext cx="2057400" cy="20116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1100" b="1">
                <a:solidFill>
                  <a:srgbClr val="375F87"/>
                </a:solidFill>
                <a:latin typeface="微软雅黑" panose="020B0503020204020204" charset="-122"/>
              </a:rPr>
              <a:t>Memory / 偏好召回</a:t>
            </a:r>
            <a:endParaRPr sz="1100" b="1">
              <a:solidFill>
                <a:srgbClr val="375F87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4910328" y="2788920"/>
            <a:ext cx="3547872" cy="2121408"/>
          </a:xfrm>
          <a:prstGeom prst="line">
            <a:avLst/>
          </a:prstGeom>
          <a:ln w="13970">
            <a:solidFill>
              <a:srgbClr val="375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87552" y="4343400"/>
            <a:ext cx="3840480" cy="20116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100" b="1">
                <a:solidFill>
                  <a:srgbClr val="645C50"/>
                </a:solidFill>
                <a:latin typeface="微软雅黑" panose="020B0503020204020204" charset="-122"/>
              </a:rPr>
              <a:t>外部工具：高德 POI / 天气 / 路线 / 餐厅</a:t>
            </a:r>
            <a:endParaRPr sz="1100" b="1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2960" y="4709160"/>
            <a:ext cx="3977639" cy="804672"/>
          </a:xfrm>
          <a:prstGeom prst="roundRect">
            <a:avLst/>
          </a:prstGeom>
          <a:solidFill>
            <a:srgbClr val="F9EFD5"/>
          </a:solidFill>
          <a:ln>
            <a:solidFill>
              <a:srgbClr val="F9E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425" y="4965065"/>
            <a:ext cx="3912870" cy="250825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1100" b="1">
                <a:solidFill>
                  <a:srgbClr val="28221B"/>
                </a:solidFill>
                <a:latin typeface="微软雅黑" panose="020B0503020204020204" charset="-122"/>
              </a:rPr>
              <a:t>数据层：SQLite 用户画像 / 历史行程；Chroma 语义记忆</a:t>
            </a:r>
            <a:endParaRPr sz="11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6384" y="5715000"/>
            <a:ext cx="10607040" cy="4572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1050" b="1">
                <a:solidFill>
                  <a:srgbClr val="645C50"/>
                </a:solidFill>
                <a:latin typeface="微软雅黑" panose="020B0503020204020204" charset="-122"/>
              </a:rPr>
              <a:t>信息流：用户→ Supervisor → Worker Agent → Supervisor → 用户结果
控制流：Supervisor 根据状态选择下一个 Agent，失败时重试或降级。</a:t>
            </a:r>
            <a:endParaRPr sz="1050" b="1">
              <a:solidFill>
                <a:srgbClr val="645C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69723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4000" b="1">
                <a:solidFill>
                  <a:srgbClr val="B94822"/>
                </a:solidFill>
                <a:latin typeface="微软雅黑" panose="020B0503020204020204" charset="-122"/>
              </a:rPr>
              <a:t>现状评估</a:t>
            </a:r>
            <a:endParaRPr sz="400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0972800" cy="18288"/>
          </a:xfrm>
          <a:prstGeom prst="rect">
            <a:avLst/>
          </a:prstGeom>
          <a:solidFill>
            <a:srgbClr val="2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830" b="0">
                <a:solidFill>
                  <a:srgbClr val="645C50"/>
                </a:solidFill>
                <a:latin typeface="微软雅黑" panose="020B0503020204020204" charset="-122"/>
              </a:rPr>
              <a:t>TravelMind · 实验二：概要设计与详细设计                         04</a:t>
            </a:r>
            <a:endParaRPr sz="83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520440" cy="1051560"/>
          </a:xfrm>
          <a:prstGeom prst="roundRect">
            <a:avLst/>
          </a:prstGeom>
          <a:solidFill>
            <a:srgbClr val="E1F0E6"/>
          </a:solidFill>
          <a:ln>
            <a:solidFill>
              <a:srgbClr val="E1F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956816"/>
            <a:ext cx="914400" cy="256032"/>
          </a:xfrm>
          <a:prstGeom prst="roundRect">
            <a:avLst/>
          </a:prstGeom>
          <a:solidFill>
            <a:srgbClr val="30694E"/>
          </a:solidFill>
          <a:ln>
            <a:solidFill>
              <a:srgbClr val="30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011680"/>
            <a:ext cx="859536" cy="11887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820" b="1">
                <a:solidFill>
                  <a:srgbClr val="FFFDF8"/>
                </a:solidFill>
                <a:latin typeface="微软雅黑" panose="020B0503020204020204" charset="-122"/>
              </a:rPr>
              <a:t>已实现</a:t>
            </a:r>
            <a:endParaRPr sz="82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38528" y="1947672"/>
            <a:ext cx="2084831" cy="20116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150" b="1">
                <a:solidFill>
                  <a:srgbClr val="28221B"/>
                </a:solidFill>
                <a:latin typeface="微软雅黑" panose="020B0503020204020204" charset="-122"/>
              </a:rPr>
              <a:t>固定 Agent 编排</a:t>
            </a:r>
            <a:endParaRPr sz="11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" y="2322576"/>
            <a:ext cx="3182112" cy="38404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30" b="0">
                <a:solidFill>
                  <a:srgbClr val="645C50"/>
                </a:solidFill>
                <a:latin typeface="微软雅黑" panose="020B0503020204020204" charset="-122"/>
              </a:rPr>
              <a:t>Intent、Planner、Reviewer、Time Check、高德检索等节点已在 LangGraph 中串联运行。</a:t>
            </a:r>
            <a:endParaRPr sz="93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1051560"/>
          </a:xfrm>
          <a:prstGeom prst="roundRect">
            <a:avLst/>
          </a:prstGeom>
          <a:solidFill>
            <a:srgbClr val="E1F0E6"/>
          </a:solidFill>
          <a:ln>
            <a:solidFill>
              <a:srgbClr val="E1F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9704" y="1956816"/>
            <a:ext cx="914400" cy="256032"/>
          </a:xfrm>
          <a:prstGeom prst="roundRect">
            <a:avLst/>
          </a:prstGeom>
          <a:solidFill>
            <a:srgbClr val="30694E"/>
          </a:solidFill>
          <a:ln>
            <a:solidFill>
              <a:srgbClr val="30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11680"/>
            <a:ext cx="859536" cy="11887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820" b="1">
                <a:solidFill>
                  <a:srgbClr val="FFFDF8"/>
                </a:solidFill>
                <a:latin typeface="微软雅黑" panose="020B0503020204020204" charset="-122"/>
              </a:rPr>
              <a:t>已实现</a:t>
            </a:r>
            <a:endParaRPr sz="82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50408" y="1947672"/>
            <a:ext cx="2084831" cy="20116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150" b="1">
                <a:solidFill>
                  <a:srgbClr val="28221B"/>
                </a:solidFill>
                <a:latin typeface="微软雅黑" panose="020B0503020204020204" charset="-122"/>
              </a:rPr>
              <a:t>基础个性化记忆</a:t>
            </a:r>
            <a:endParaRPr sz="11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9704" y="2322576"/>
            <a:ext cx="3182112" cy="38404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30" b="0">
                <a:solidFill>
                  <a:srgbClr val="645C50"/>
                </a:solidFill>
                <a:latin typeface="微软雅黑" panose="020B0503020204020204" charset="-122"/>
              </a:rPr>
              <a:t>SQLite 保存可编辑画像；Chroma 按 user_id 隔离召回语义偏好。</a:t>
            </a:r>
            <a:endParaRPr sz="93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55279" y="1828800"/>
            <a:ext cx="3520440" cy="1051560"/>
          </a:xfrm>
          <a:prstGeom prst="roundRect">
            <a:avLst/>
          </a:prstGeom>
          <a:solidFill>
            <a:srgbClr val="E1F0E6"/>
          </a:solidFill>
          <a:ln>
            <a:solidFill>
              <a:srgbClr val="E1F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01583" y="1956816"/>
            <a:ext cx="914400" cy="256032"/>
          </a:xfrm>
          <a:prstGeom prst="roundRect">
            <a:avLst/>
          </a:prstGeom>
          <a:solidFill>
            <a:srgbClr val="30694E"/>
          </a:solidFill>
          <a:ln>
            <a:solidFill>
              <a:srgbClr val="30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9015" y="2011680"/>
            <a:ext cx="859536" cy="11887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820" b="1">
                <a:solidFill>
                  <a:srgbClr val="FFFDF8"/>
                </a:solidFill>
                <a:latin typeface="微软雅黑" panose="020B0503020204020204" charset="-122"/>
              </a:rPr>
              <a:t>已实现</a:t>
            </a:r>
            <a:endParaRPr sz="82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62288" y="1947672"/>
            <a:ext cx="2084831" cy="20116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150" b="1">
                <a:solidFill>
                  <a:srgbClr val="28221B"/>
                </a:solidFill>
                <a:latin typeface="微软雅黑" panose="020B0503020204020204" charset="-122"/>
              </a:rPr>
              <a:t>有限轮次审核</a:t>
            </a:r>
            <a:endParaRPr sz="11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01583" y="2322576"/>
            <a:ext cx="3182112" cy="38404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30" b="0">
                <a:solidFill>
                  <a:srgbClr val="645C50"/>
                </a:solidFill>
                <a:latin typeface="微软雅黑" panose="020B0503020204020204" charset="-122"/>
              </a:rPr>
              <a:t>Planner 与 Reviewer 可以回路修正，降低候选池以外景点幻觉。</a:t>
            </a:r>
            <a:endParaRPr sz="93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3246120"/>
            <a:ext cx="3520440" cy="1051560"/>
          </a:xfrm>
          <a:prstGeom prst="roundRect">
            <a:avLst/>
          </a:prstGeom>
          <a:solidFill>
            <a:srgbClr val="F7E2D9"/>
          </a:solidFill>
          <a:ln>
            <a:solidFill>
              <a:srgbClr val="F7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7824" y="3374136"/>
            <a:ext cx="914400" cy="256032"/>
          </a:xfrm>
          <a:prstGeom prst="roundRect">
            <a:avLst/>
          </a:prstGeom>
          <a:solidFill>
            <a:srgbClr val="B94822"/>
          </a:solidFill>
          <a:ln>
            <a:solidFill>
              <a:srgbClr val="B94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3429000"/>
            <a:ext cx="859536" cy="11887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820" b="1">
                <a:solidFill>
                  <a:srgbClr val="FFFDF8"/>
                </a:solidFill>
                <a:latin typeface="微软雅黑" panose="020B0503020204020204" charset="-122"/>
              </a:rPr>
              <a:t>未实现</a:t>
            </a:r>
            <a:endParaRPr sz="82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38528" y="3364991"/>
            <a:ext cx="2084831" cy="20116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150" b="1">
                <a:solidFill>
                  <a:srgbClr val="28221B"/>
                </a:solidFill>
                <a:latin typeface="微软雅黑" panose="020B0503020204020204" charset="-122"/>
              </a:rPr>
              <a:t>显式 Supervisor 消息调度</a:t>
            </a:r>
            <a:endParaRPr sz="11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7824" y="3739896"/>
            <a:ext cx="3182112" cy="38404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30" b="0">
                <a:solidFill>
                  <a:srgbClr val="645C50"/>
                </a:solidFill>
                <a:latin typeface="微软雅黑" panose="020B0503020204020204" charset="-122"/>
              </a:rPr>
              <a:t>当前为固定图编排，尚未实现根据 task_type 动态调用 Worker 的独立调度器。</a:t>
            </a:r>
            <a:endParaRPr sz="93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43400" y="3246120"/>
            <a:ext cx="3520440" cy="1051560"/>
          </a:xfrm>
          <a:prstGeom prst="roundRect">
            <a:avLst/>
          </a:prstGeom>
          <a:solidFill>
            <a:srgbClr val="F7E2D9"/>
          </a:solidFill>
          <a:ln>
            <a:solidFill>
              <a:srgbClr val="F7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89704" y="3374136"/>
            <a:ext cx="914400" cy="256032"/>
          </a:xfrm>
          <a:prstGeom prst="roundRect">
            <a:avLst/>
          </a:prstGeom>
          <a:solidFill>
            <a:srgbClr val="B94822"/>
          </a:solidFill>
          <a:ln>
            <a:solidFill>
              <a:srgbClr val="B94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3429000"/>
            <a:ext cx="859536" cy="11887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820" b="1">
                <a:solidFill>
                  <a:srgbClr val="FFFDF8"/>
                </a:solidFill>
                <a:latin typeface="微软雅黑" panose="020B0503020204020204" charset="-122"/>
              </a:rPr>
              <a:t>未实现</a:t>
            </a:r>
            <a:endParaRPr sz="82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550408" y="3364991"/>
            <a:ext cx="2084831" cy="20116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150" b="1">
                <a:solidFill>
                  <a:srgbClr val="28221B"/>
                </a:solidFill>
                <a:latin typeface="微软雅黑" panose="020B0503020204020204" charset="-122"/>
              </a:rPr>
              <a:t>指定地点消歧 + 动态候选池</a:t>
            </a:r>
            <a:endParaRPr sz="11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89704" y="3739896"/>
            <a:ext cx="3182112" cy="38404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30" b="0">
                <a:solidFill>
                  <a:srgbClr val="645C50"/>
                </a:solidFill>
                <a:latin typeface="微软雅黑" panose="020B0503020204020204" charset="-122"/>
              </a:rPr>
              <a:t>对“北京大学”、“秀山兴隆坨”等长尾地点还缺精确搜索和用户确认机制。</a:t>
            </a:r>
            <a:endParaRPr sz="93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955279" y="3246120"/>
            <a:ext cx="3520440" cy="1051560"/>
          </a:xfrm>
          <a:prstGeom prst="roundRect">
            <a:avLst/>
          </a:prstGeom>
          <a:solidFill>
            <a:srgbClr val="F7E2D9"/>
          </a:solidFill>
          <a:ln>
            <a:solidFill>
              <a:srgbClr val="F7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01583" y="3374136"/>
            <a:ext cx="914400" cy="256032"/>
          </a:xfrm>
          <a:prstGeom prst="roundRect">
            <a:avLst/>
          </a:prstGeom>
          <a:solidFill>
            <a:srgbClr val="B94822"/>
          </a:solidFill>
          <a:ln>
            <a:solidFill>
              <a:srgbClr val="B94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9015" y="3429000"/>
            <a:ext cx="859536" cy="11887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820" b="1">
                <a:solidFill>
                  <a:srgbClr val="FFFDF8"/>
                </a:solidFill>
                <a:latin typeface="微软雅黑" panose="020B0503020204020204" charset="-122"/>
              </a:rPr>
              <a:t>未实现</a:t>
            </a:r>
            <a:endParaRPr sz="82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62288" y="3364991"/>
            <a:ext cx="2084831" cy="20116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150" b="1">
                <a:solidFill>
                  <a:srgbClr val="28221B"/>
                </a:solidFill>
                <a:latin typeface="微软雅黑" panose="020B0503020204020204" charset="-122"/>
              </a:rPr>
              <a:t>交通驱动的局部重规划</a:t>
            </a:r>
            <a:endParaRPr sz="11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01583" y="3739896"/>
            <a:ext cx="3182112" cy="38404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30" b="0">
                <a:solidFill>
                  <a:srgbClr val="645C50"/>
                </a:solidFill>
                <a:latin typeface="微软雅黑" panose="020B0503020204020204" charset="-122"/>
              </a:rPr>
              <a:t>未将地铁、打车等通勤耗时作为硬约束，修改流程也需补全 Time Check。</a:t>
            </a:r>
            <a:endParaRPr sz="93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219456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000" b="1">
                <a:solidFill>
                  <a:srgbClr val="B94822"/>
                </a:solidFill>
                <a:latin typeface="微软雅黑" panose="020B0503020204020204" charset="-122"/>
              </a:rPr>
              <a:t>详细设计 · 调度中枢</a:t>
            </a:r>
            <a:endParaRPr sz="100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6072" y="621792"/>
            <a:ext cx="1097280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2500" b="1">
                <a:solidFill>
                  <a:srgbClr val="28221B"/>
                </a:solidFill>
                <a:latin typeface="微软雅黑" panose="020B0503020204020204" charset="-122"/>
              </a:rPr>
              <a:t>Supervisor Agent 设计</a:t>
            </a:r>
            <a:endParaRPr sz="25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0972800" cy="18288"/>
          </a:xfrm>
          <a:prstGeom prst="rect">
            <a:avLst/>
          </a:prstGeom>
          <a:solidFill>
            <a:srgbClr val="2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830" b="0">
                <a:solidFill>
                  <a:srgbClr val="645C50"/>
                </a:solidFill>
                <a:latin typeface="微软雅黑" panose="020B0503020204020204" charset="-122"/>
              </a:rPr>
              <a:t>TravelMind · 实验二：概要设计与详细设计                         05</a:t>
            </a:r>
            <a:endParaRPr sz="83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529584" cy="3429000"/>
          </a:xfrm>
          <a:prstGeom prst="roundRect">
            <a:avLst/>
          </a:prstGeom>
          <a:solidFill>
            <a:srgbClr val="FFFDF8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529584" cy="438912"/>
          </a:xfrm>
          <a:prstGeom prst="roundRect">
            <a:avLst/>
          </a:prstGeom>
          <a:solidFill>
            <a:srgbClr val="B94822"/>
          </a:solidFill>
          <a:ln>
            <a:solidFill>
              <a:srgbClr val="B94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32004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300" b="1">
                <a:solidFill>
                  <a:srgbClr val="FFFDF8"/>
                </a:solidFill>
                <a:latin typeface="微软雅黑" panose="020B0503020204020204" charset="-122"/>
              </a:rPr>
              <a:t>Supervisor Agent</a:t>
            </a:r>
            <a:endParaRPr sz="13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B94822"/>
                </a:solidFill>
                <a:latin typeface="微软雅黑" panose="020B0503020204020204" charset="-122"/>
              </a:rPr>
              <a:t>目标</a:t>
            </a:r>
            <a:endParaRPr sz="92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90472" y="241401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接收用户请求，创建 task_id，按状态调度 Worker，汇总结果。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96265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B94822"/>
                </a:solidFill>
                <a:latin typeface="微软雅黑" panose="020B0503020204020204" charset="-122"/>
              </a:rPr>
              <a:t>能力边界</a:t>
            </a:r>
            <a:endParaRPr sz="92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90472" y="296265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不生成旅行结论；不直接修改用户长期记忆。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351129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B94822"/>
                </a:solidFill>
                <a:latin typeface="微软雅黑" panose="020B0503020204020204" charset="-122"/>
              </a:rPr>
              <a:t>工具</a:t>
            </a:r>
            <a:endParaRPr sz="92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90472" y="351129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LangGraph、消息队列、任务状态存储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059935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B94822"/>
                </a:solidFill>
                <a:latin typeface="微软雅黑" panose="020B0503020204020204" charset="-122"/>
              </a:rPr>
              <a:t>记忆</a:t>
            </a:r>
            <a:endParaRPr sz="92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90472" y="4059935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task_id、当前任务状态、失败次数、节点输出引用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460857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B94822"/>
                </a:solidFill>
                <a:latin typeface="微软雅黑" panose="020B0503020204020204" charset="-122"/>
              </a:rPr>
              <a:t>范围</a:t>
            </a:r>
            <a:endParaRPr sz="92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90472" y="460857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任务级私有；只读共享用户请求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0" y="1828800"/>
            <a:ext cx="3154680" cy="1143000"/>
          </a:xfrm>
          <a:prstGeom prst="roundRect">
            <a:avLst/>
          </a:prstGeom>
          <a:solidFill>
            <a:srgbClr val="FFFDF8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575" y="1957070"/>
            <a:ext cx="2004060" cy="235585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000" b="1">
                <a:solidFill>
                  <a:srgbClr val="30694E"/>
                </a:solidFill>
                <a:latin typeface="微软雅黑" panose="020B0503020204020204" charset="-122"/>
              </a:rPr>
              <a:t>调度规则 1</a:t>
            </a:r>
            <a:endParaRPr sz="1000" b="1">
              <a:solidFill>
                <a:srgbClr val="30694E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27448" y="2221992"/>
            <a:ext cx="2843784" cy="23774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250" b="1">
                <a:solidFill>
                  <a:srgbClr val="28221B"/>
                </a:solidFill>
                <a:latin typeface="微软雅黑" panose="020B0503020204020204" charset="-122"/>
              </a:rPr>
              <a:t>需求不全：转 Intent Agent</a:t>
            </a:r>
            <a:endParaRPr sz="12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27448" y="2560320"/>
            <a:ext cx="2843784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50" b="0">
                <a:solidFill>
                  <a:srgbClr val="645C50"/>
                </a:solidFill>
                <a:latin typeface="微软雅黑" panose="020B0503020204020204" charset="-122"/>
              </a:rPr>
              <a:t>缺少目的地、日期等关键字段时，建立补充信息子任务。</a:t>
            </a:r>
            <a:endParaRPr sz="95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65008" y="1828800"/>
            <a:ext cx="3154680" cy="1143000"/>
          </a:xfrm>
          <a:prstGeom prst="roundRect">
            <a:avLst/>
          </a:prstGeom>
          <a:solidFill>
            <a:srgbClr val="FFFDF8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710" y="1957070"/>
            <a:ext cx="1944370" cy="235585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000" b="1">
                <a:solidFill>
                  <a:srgbClr val="375F87"/>
                </a:solidFill>
                <a:latin typeface="微软雅黑" panose="020B0503020204020204" charset="-122"/>
              </a:rPr>
              <a:t>调度规则 2</a:t>
            </a:r>
            <a:endParaRPr sz="1000" b="1">
              <a:solidFill>
                <a:srgbClr val="375F87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0456" y="2221992"/>
            <a:ext cx="2843784" cy="23774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250" b="1">
                <a:solidFill>
                  <a:srgbClr val="28221B"/>
                </a:solidFill>
                <a:latin typeface="微软雅黑" panose="020B0503020204020204" charset="-122"/>
              </a:rPr>
              <a:t>指定地点：转 POI Resolver</a:t>
            </a:r>
            <a:endParaRPr sz="12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0456" y="2560320"/>
            <a:ext cx="2843784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50" b="0">
                <a:solidFill>
                  <a:srgbClr val="645C50"/>
                </a:solidFill>
                <a:latin typeface="微软雅黑" panose="020B0503020204020204" charset="-122"/>
              </a:rPr>
              <a:t>先验证 POI 名称、城市、坐标；多个结果转人工确认。</a:t>
            </a:r>
            <a:endParaRPr sz="95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72000" y="3246120"/>
            <a:ext cx="3154680" cy="1143000"/>
          </a:xfrm>
          <a:prstGeom prst="roundRect">
            <a:avLst/>
          </a:prstGeom>
          <a:solidFill>
            <a:srgbClr val="FFFDF8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27575" y="3374390"/>
            <a:ext cx="1825625" cy="235585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000" b="1">
                <a:solidFill>
                  <a:srgbClr val="C48923"/>
                </a:solidFill>
                <a:latin typeface="微软雅黑" panose="020B0503020204020204" charset="-122"/>
              </a:rPr>
              <a:t>调度规则 3</a:t>
            </a:r>
            <a:endParaRPr sz="1000" b="1">
              <a:solidFill>
                <a:srgbClr val="C48923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27448" y="3639312"/>
            <a:ext cx="2843784" cy="23774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250" b="1">
                <a:solidFill>
                  <a:srgbClr val="28221B"/>
                </a:solidFill>
                <a:latin typeface="微软雅黑" panose="020B0503020204020204" charset="-122"/>
              </a:rPr>
              <a:t>审核不通过：回退 Planner</a:t>
            </a:r>
            <a:endParaRPr sz="12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27448" y="3977639"/>
            <a:ext cx="2843784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50" b="0">
                <a:solidFill>
                  <a:srgbClr val="645C50"/>
                </a:solidFill>
                <a:latin typeface="微软雅黑" panose="020B0503020204020204" charset="-122"/>
              </a:rPr>
              <a:t>最多三轮修改；超过上限输出约束冲突与备选方案。</a:t>
            </a:r>
            <a:endParaRPr sz="95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65008" y="3246120"/>
            <a:ext cx="3154680" cy="1143000"/>
          </a:xfrm>
          <a:prstGeom prst="roundRect">
            <a:avLst/>
          </a:prstGeom>
          <a:solidFill>
            <a:srgbClr val="FFFDF8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710" y="3374390"/>
            <a:ext cx="2299335" cy="235585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000" b="1">
                <a:solidFill>
                  <a:srgbClr val="B94822"/>
                </a:solidFill>
                <a:latin typeface="微软雅黑" panose="020B0503020204020204" charset="-122"/>
              </a:rPr>
              <a:t>调度规则 4</a:t>
            </a:r>
            <a:endParaRPr sz="100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0456" y="3639312"/>
            <a:ext cx="2843784" cy="23774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250" b="1">
                <a:solidFill>
                  <a:srgbClr val="28221B"/>
                </a:solidFill>
                <a:latin typeface="微软雅黑" panose="020B0503020204020204" charset="-122"/>
              </a:rPr>
              <a:t>工具失败：重试 / 降级</a:t>
            </a:r>
            <a:endParaRPr sz="12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0456" y="3977639"/>
            <a:ext cx="2843784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50" b="0">
                <a:solidFill>
                  <a:srgbClr val="645C50"/>
                </a:solidFill>
                <a:latin typeface="微软雅黑" panose="020B0503020204020204" charset="-122"/>
              </a:rPr>
              <a:t>有限重试；保留 error_code；提示用户哪些事实未验证。</a:t>
            </a:r>
            <a:endParaRPr sz="95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663440" y="4892040"/>
            <a:ext cx="6400800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/>
            <a:r>
              <a:rPr sz="1020" b="1">
                <a:solidFill>
                  <a:srgbClr val="B94822"/>
                </a:solidFill>
                <a:latin typeface="微软雅黑" panose="020B0503020204020204" charset="-122"/>
              </a:rPr>
              <a:t>实现状态：当前 LangGraph 负责固定节点跳转；本页 Supervisor 为未来需要实现的显式调度层。</a:t>
            </a:r>
            <a:endParaRPr sz="102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219456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000" b="1">
                <a:solidFill>
                  <a:srgbClr val="B94822"/>
                </a:solidFill>
                <a:latin typeface="微软雅黑" panose="020B0503020204020204" charset="-122"/>
              </a:rPr>
              <a:t>详细设计 · Worker Agent</a:t>
            </a:r>
            <a:endParaRPr sz="100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6072" y="621792"/>
            <a:ext cx="1097280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2500" b="1">
                <a:solidFill>
                  <a:srgbClr val="28221B"/>
                </a:solidFill>
                <a:latin typeface="微软雅黑" panose="020B0503020204020204" charset="-122"/>
              </a:rPr>
              <a:t>需求解析、事实检索、行程规划</a:t>
            </a:r>
            <a:endParaRPr sz="25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0972800" cy="18288"/>
          </a:xfrm>
          <a:prstGeom prst="rect">
            <a:avLst/>
          </a:prstGeom>
          <a:solidFill>
            <a:srgbClr val="2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830" b="0">
                <a:solidFill>
                  <a:srgbClr val="645C50"/>
                </a:solidFill>
                <a:latin typeface="微软雅黑" panose="020B0503020204020204" charset="-122"/>
              </a:rPr>
              <a:t>TravelMind · 实验二：概要设计与详细设计                         06</a:t>
            </a:r>
            <a:endParaRPr sz="83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529584" cy="3429000"/>
          </a:xfrm>
          <a:prstGeom prst="roundRect">
            <a:avLst/>
          </a:prstGeom>
          <a:solidFill>
            <a:srgbClr val="FFFDF8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529584" cy="438912"/>
          </a:xfrm>
          <a:prstGeom prst="roundRect">
            <a:avLst/>
          </a:prstGeom>
          <a:solidFill>
            <a:srgbClr val="30694E"/>
          </a:solidFill>
          <a:ln>
            <a:solidFill>
              <a:srgbClr val="30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32004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300" b="1">
                <a:solidFill>
                  <a:srgbClr val="FFFDF8"/>
                </a:solidFill>
                <a:latin typeface="微软雅黑" panose="020B0503020204020204" charset="-122"/>
              </a:rPr>
              <a:t>Intent Agent</a:t>
            </a:r>
            <a:endParaRPr sz="13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0694E"/>
                </a:solidFill>
                <a:latin typeface="微软雅黑" panose="020B0503020204020204" charset="-122"/>
              </a:rPr>
              <a:t>目标</a:t>
            </a:r>
            <a:endParaRPr sz="920" b="1">
              <a:solidFill>
                <a:srgbClr val="30694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90472" y="241401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将自然语言转为目的地、日期、偏好等结构化需求。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96265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0694E"/>
                </a:solidFill>
                <a:latin typeface="微软雅黑" panose="020B0503020204020204" charset="-122"/>
              </a:rPr>
              <a:t>能力边界</a:t>
            </a:r>
            <a:endParaRPr sz="920" b="1">
              <a:solidFill>
                <a:srgbClr val="30694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90472" y="296265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不搜索 POI；不生成行程；不更新长期记忆。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351129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0694E"/>
                </a:solidFill>
                <a:latin typeface="微软雅黑" panose="020B0503020204020204" charset="-122"/>
              </a:rPr>
              <a:t>工具</a:t>
            </a:r>
            <a:endParaRPr sz="920" b="1">
              <a:solidFill>
                <a:srgbClr val="30694E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90472" y="351129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LLM 结构化输出、只读用户画像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059935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0694E"/>
                </a:solidFill>
                <a:latin typeface="微软雅黑" panose="020B0503020204020204" charset="-122"/>
              </a:rPr>
              <a:t>记忆</a:t>
            </a:r>
            <a:endParaRPr sz="920" b="1">
              <a:solidFill>
                <a:srgbClr val="30694E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90472" y="4059935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本轮对话上下文、缺失字段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460857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0694E"/>
                </a:solidFill>
                <a:latin typeface="微软雅黑" panose="020B0503020204020204" charset="-122"/>
              </a:rPr>
              <a:t>范围</a:t>
            </a:r>
            <a:endParaRPr sz="920" b="1">
              <a:solidFill>
                <a:srgbClr val="30694E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90472" y="460857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任务级私有；读全局需求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43400" y="1828800"/>
            <a:ext cx="3529584" cy="3429000"/>
          </a:xfrm>
          <a:prstGeom prst="roundRect">
            <a:avLst/>
          </a:prstGeom>
          <a:solidFill>
            <a:srgbClr val="FFFDF8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43400" y="1828800"/>
            <a:ext cx="3529584" cy="438912"/>
          </a:xfrm>
          <a:prstGeom prst="roundRect">
            <a:avLst/>
          </a:prstGeom>
          <a:solidFill>
            <a:srgbClr val="375F87"/>
          </a:solidFill>
          <a:ln>
            <a:solidFill>
              <a:srgbClr val="37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1938528"/>
            <a:ext cx="32004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300" b="1">
                <a:solidFill>
                  <a:srgbClr val="FFFDF8"/>
                </a:solidFill>
                <a:latin typeface="微软雅黑" panose="020B0503020204020204" charset="-122"/>
              </a:rPr>
              <a:t>POI Resolver Agent</a:t>
            </a:r>
            <a:endParaRPr sz="13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80560" y="241401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75F87"/>
                </a:solidFill>
                <a:latin typeface="微软雅黑" panose="020B0503020204020204" charset="-122"/>
              </a:rPr>
              <a:t>目标</a:t>
            </a:r>
            <a:endParaRPr sz="920" b="1">
              <a:solidFill>
                <a:srgbClr val="375F87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48072" y="241401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精确检索用户指定地点，将验证后的 POI 加入候选池。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80560" y="296265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75F87"/>
                </a:solidFill>
                <a:latin typeface="微软雅黑" panose="020B0503020204020204" charset="-122"/>
              </a:rPr>
              <a:t>能力边界</a:t>
            </a:r>
            <a:endParaRPr sz="920" b="1">
              <a:solidFill>
                <a:srgbClr val="375F87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48072" y="296265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不推测不存在的地点；多义结果不自行选择。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80560" y="351129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75F87"/>
                </a:solidFill>
                <a:latin typeface="微软雅黑" panose="020B0503020204020204" charset="-122"/>
              </a:rPr>
              <a:t>工具</a:t>
            </a:r>
            <a:endParaRPr sz="920" b="1">
              <a:solidFill>
                <a:srgbClr val="375F87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48072" y="351129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高德 POI 搜索、地理编码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80560" y="4059935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75F87"/>
                </a:solidFill>
                <a:latin typeface="微软雅黑" panose="020B0503020204020204" charset="-122"/>
              </a:rPr>
              <a:t>记忆</a:t>
            </a:r>
            <a:endParaRPr sz="920" b="1">
              <a:solidFill>
                <a:srgbClr val="375F87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48072" y="4059935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本次 POI 候选结果、消歧结果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80560" y="460857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75F87"/>
                </a:solidFill>
                <a:latin typeface="微软雅黑" panose="020B0503020204020204" charset="-122"/>
              </a:rPr>
              <a:t>范围</a:t>
            </a:r>
            <a:endParaRPr sz="920" b="1">
              <a:solidFill>
                <a:srgbClr val="375F87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48072" y="460857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任务级私有；向 Planner 发送结果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001000" y="1828800"/>
            <a:ext cx="3529584" cy="3429000"/>
          </a:xfrm>
          <a:prstGeom prst="roundRect">
            <a:avLst/>
          </a:prstGeom>
          <a:solidFill>
            <a:srgbClr val="FFFDF8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01000" y="1828800"/>
            <a:ext cx="3529584" cy="438912"/>
          </a:xfrm>
          <a:prstGeom prst="roundRect">
            <a:avLst/>
          </a:prstGeom>
          <a:solidFill>
            <a:srgbClr val="C48923"/>
          </a:solidFill>
          <a:ln>
            <a:solidFill>
              <a:srgbClr val="C48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938528"/>
            <a:ext cx="32004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300" b="1">
                <a:solidFill>
                  <a:srgbClr val="FFFDF8"/>
                </a:solidFill>
                <a:latin typeface="微软雅黑" panose="020B0503020204020204" charset="-122"/>
              </a:rPr>
              <a:t>Planner Agent</a:t>
            </a:r>
            <a:endParaRPr sz="13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38160" y="241401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C48923"/>
                </a:solidFill>
                <a:latin typeface="微软雅黑" panose="020B0503020204020204" charset="-122"/>
              </a:rPr>
              <a:t>目标</a:t>
            </a:r>
            <a:endParaRPr sz="920" b="1">
              <a:solidFill>
                <a:srgbClr val="C48923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805672" y="241401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在已验证候选池和约束下生成按天的行程草案。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38160" y="296265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C48923"/>
                </a:solidFill>
                <a:latin typeface="微软雅黑" panose="020B0503020204020204" charset="-122"/>
              </a:rPr>
              <a:t>能力边界</a:t>
            </a:r>
            <a:endParaRPr sz="920" b="1">
              <a:solidFill>
                <a:srgbClr val="C48923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805672" y="296265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不访问其他用户记忆；不把未验证 POI 写入结果。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138160" y="351129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C48923"/>
                </a:solidFill>
                <a:latin typeface="微软雅黑" panose="020B0503020204020204" charset="-122"/>
              </a:rPr>
              <a:t>工具</a:t>
            </a:r>
            <a:endParaRPr sz="920" b="1">
              <a:solidFill>
                <a:srgbClr val="C48923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805672" y="351129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LLM、候选池、天气、交通约束（待接入）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138160" y="4059935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C48923"/>
                </a:solidFill>
                <a:latin typeface="微软雅黑" panose="020B0503020204020204" charset="-122"/>
              </a:rPr>
              <a:t>记忆</a:t>
            </a:r>
            <a:endParaRPr sz="920" b="1">
              <a:solidFill>
                <a:srgbClr val="C48923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805672" y="4059935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当前 route、修改意见、本轮审核反馈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38160" y="460857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C48923"/>
                </a:solidFill>
                <a:latin typeface="微软雅黑" panose="020B0503020204020204" charset="-122"/>
              </a:rPr>
              <a:t>范围</a:t>
            </a:r>
            <a:endParaRPr sz="920" b="1">
              <a:solidFill>
                <a:srgbClr val="C48923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805672" y="460857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任务级私有；读只读全局约束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219456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000" b="1">
                <a:solidFill>
                  <a:srgbClr val="B94822"/>
                </a:solidFill>
                <a:latin typeface="微软雅黑" panose="020B0503020204020204" charset="-122"/>
              </a:rPr>
              <a:t>详细设计 · Worker Agent</a:t>
            </a:r>
            <a:endParaRPr sz="100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6072" y="621792"/>
            <a:ext cx="1097280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2500" b="1">
                <a:solidFill>
                  <a:srgbClr val="28221B"/>
                </a:solidFill>
                <a:latin typeface="微软雅黑" panose="020B0503020204020204" charset="-122"/>
              </a:rPr>
              <a:t>审核、时间核验、个性化记忆</a:t>
            </a:r>
            <a:endParaRPr sz="25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0972800" cy="18288"/>
          </a:xfrm>
          <a:prstGeom prst="rect">
            <a:avLst/>
          </a:prstGeom>
          <a:solidFill>
            <a:srgbClr val="2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830" b="0">
                <a:solidFill>
                  <a:srgbClr val="645C50"/>
                </a:solidFill>
                <a:latin typeface="微软雅黑" panose="020B0503020204020204" charset="-122"/>
              </a:rPr>
              <a:t>TravelMind · 实验二：概要设计与详细设计                         07</a:t>
            </a:r>
            <a:endParaRPr sz="830" b="0">
              <a:solidFill>
                <a:srgbClr val="645C50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529584" cy="3429000"/>
          </a:xfrm>
          <a:prstGeom prst="roundRect">
            <a:avLst/>
          </a:prstGeom>
          <a:solidFill>
            <a:srgbClr val="FFFDF8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529584" cy="438912"/>
          </a:xfrm>
          <a:prstGeom prst="roundRect">
            <a:avLst/>
          </a:prstGeom>
          <a:solidFill>
            <a:srgbClr val="B94822"/>
          </a:solidFill>
          <a:ln>
            <a:solidFill>
              <a:srgbClr val="B94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32004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300" b="1">
                <a:solidFill>
                  <a:srgbClr val="FFFDF8"/>
                </a:solidFill>
                <a:latin typeface="微软雅黑" panose="020B0503020204020204" charset="-122"/>
              </a:rPr>
              <a:t>Reviewer Agent</a:t>
            </a:r>
            <a:endParaRPr sz="13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B94822"/>
                </a:solidFill>
                <a:latin typeface="微软雅黑" panose="020B0503020204020204" charset="-122"/>
              </a:rPr>
              <a:t>目标</a:t>
            </a:r>
            <a:endParaRPr sz="92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90472" y="241401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审核景点真实性、约束匹配、地理跨度，输出可执行的修改意见。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96265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B94822"/>
                </a:solidFill>
                <a:latin typeface="微软雅黑" panose="020B0503020204020204" charset="-122"/>
              </a:rPr>
              <a:t>能力边界</a:t>
            </a:r>
            <a:endParaRPr sz="92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90472" y="296265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不重写行程；不直接修改 Planner 的私有状态。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351129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B94822"/>
                </a:solidFill>
                <a:latin typeface="微软雅黑" panose="020B0503020204020204" charset="-122"/>
              </a:rPr>
              <a:t>工具</a:t>
            </a:r>
            <a:endParaRPr sz="92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90472" y="351129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候选池、路线草案、规则校验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059935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B94822"/>
                </a:solidFill>
                <a:latin typeface="微软雅黑" panose="020B0503020204020204" charset="-122"/>
              </a:rPr>
              <a:t>记忆</a:t>
            </a:r>
            <a:endParaRPr sz="92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90472" y="4059935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审核结论、问题列表、评分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460857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B94822"/>
                </a:solidFill>
                <a:latin typeface="微软雅黑" panose="020B0503020204020204" charset="-122"/>
              </a:rPr>
              <a:t>范围</a:t>
            </a:r>
            <a:endParaRPr sz="920" b="1">
              <a:solidFill>
                <a:srgbClr val="B9482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90472" y="460857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审核私有；向 Supervisor 发送 review_result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43400" y="1828800"/>
            <a:ext cx="3529584" cy="3429000"/>
          </a:xfrm>
          <a:prstGeom prst="roundRect">
            <a:avLst/>
          </a:prstGeom>
          <a:solidFill>
            <a:srgbClr val="FFFDF8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43400" y="1828800"/>
            <a:ext cx="3529584" cy="438912"/>
          </a:xfrm>
          <a:prstGeom prst="roundRect">
            <a:avLst/>
          </a:prstGeom>
          <a:solidFill>
            <a:srgbClr val="30694E"/>
          </a:solidFill>
          <a:ln>
            <a:solidFill>
              <a:srgbClr val="30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1938528"/>
            <a:ext cx="32004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300" b="1">
                <a:solidFill>
                  <a:srgbClr val="FFFDF8"/>
                </a:solidFill>
                <a:latin typeface="微软雅黑" panose="020B0503020204020204" charset="-122"/>
              </a:rPr>
              <a:t>Time Check Agent</a:t>
            </a:r>
            <a:endParaRPr sz="13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80560" y="241401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0694E"/>
                </a:solidFill>
                <a:latin typeface="微软雅黑" panose="020B0503020204020204" charset="-122"/>
              </a:rPr>
              <a:t>目标</a:t>
            </a:r>
            <a:endParaRPr sz="920" b="1">
              <a:solidFill>
                <a:srgbClr val="30694E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48072" y="241401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用开放时间和通勤耗时（待接入）检查时间线。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80560" y="296265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0694E"/>
                </a:solidFill>
                <a:latin typeface="微软雅黑" panose="020B0503020204020204" charset="-122"/>
              </a:rPr>
              <a:t>能力边界</a:t>
            </a:r>
            <a:endParaRPr sz="920" b="1">
              <a:solidFill>
                <a:srgbClr val="30694E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48072" y="296265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不调整景点顺序；仅输出冲突和受影响节点。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80560" y="351129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0694E"/>
                </a:solidFill>
                <a:latin typeface="微软雅黑" panose="020B0503020204020204" charset="-122"/>
              </a:rPr>
              <a:t>工具</a:t>
            </a:r>
            <a:endParaRPr sz="920" b="1">
              <a:solidFill>
                <a:srgbClr val="30694E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48072" y="351129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高德开放时间、路线规划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80560" y="4059935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0694E"/>
                </a:solidFill>
                <a:latin typeface="微软雅黑" panose="020B0503020204020204" charset="-122"/>
              </a:rPr>
              <a:t>记忆</a:t>
            </a:r>
            <a:endParaRPr sz="920" b="1">
              <a:solidFill>
                <a:srgbClr val="30694E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48072" y="4059935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本轮的时间冲突列表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80560" y="460857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0694E"/>
                </a:solidFill>
                <a:latin typeface="微软雅黑" panose="020B0503020204020204" charset="-122"/>
              </a:rPr>
              <a:t>范围</a:t>
            </a:r>
            <a:endParaRPr sz="920" b="1">
              <a:solidFill>
                <a:srgbClr val="30694E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48072" y="460857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任务级私有；向 Supervisor 发送 time_violation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001000" y="1828800"/>
            <a:ext cx="3529584" cy="3429000"/>
          </a:xfrm>
          <a:prstGeom prst="roundRect">
            <a:avLst/>
          </a:prstGeom>
          <a:solidFill>
            <a:srgbClr val="FFFDF8"/>
          </a:solidFill>
          <a:ln>
            <a:solidFill>
              <a:srgbClr val="DDD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01000" y="1828800"/>
            <a:ext cx="3529584" cy="438912"/>
          </a:xfrm>
          <a:prstGeom prst="roundRect">
            <a:avLst/>
          </a:prstGeom>
          <a:solidFill>
            <a:srgbClr val="375F87"/>
          </a:solidFill>
          <a:ln>
            <a:solidFill>
              <a:srgbClr val="37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938528"/>
            <a:ext cx="32004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1300" b="1">
                <a:solidFill>
                  <a:srgbClr val="FFFDF8"/>
                </a:solidFill>
                <a:latin typeface="微软雅黑" panose="020B0503020204020204" charset="-122"/>
              </a:rPr>
              <a:t>Memory Agent</a:t>
            </a:r>
            <a:endParaRPr sz="13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38160" y="241401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75F87"/>
                </a:solidFill>
                <a:latin typeface="微软雅黑" panose="020B0503020204020204" charset="-122"/>
              </a:rPr>
              <a:t>目标</a:t>
            </a:r>
            <a:endParaRPr sz="920" b="1">
              <a:solidFill>
                <a:srgbClr val="375F87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805672" y="241401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召回与写入稳定偏好，让规划具备跨会话个性化能力。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38160" y="296265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75F87"/>
                </a:solidFill>
                <a:latin typeface="微软雅黑" panose="020B0503020204020204" charset="-122"/>
              </a:rPr>
              <a:t>能力边界</a:t>
            </a:r>
            <a:endParaRPr sz="920" b="1">
              <a:solidFill>
                <a:srgbClr val="375F87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805672" y="296265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不保存整段对话；不使用其他用户的向量记忆。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138160" y="351129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75F87"/>
                </a:solidFill>
                <a:latin typeface="微软雅黑" panose="020B0503020204020204" charset="-122"/>
              </a:rPr>
              <a:t>工具</a:t>
            </a:r>
            <a:endParaRPr sz="920" b="1">
              <a:solidFill>
                <a:srgbClr val="375F87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805672" y="351129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SQLite 画像、Chroma 向量库、LLM 提炼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138160" y="4059935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75F87"/>
                </a:solidFill>
                <a:latin typeface="微软雅黑" panose="020B0503020204020204" charset="-122"/>
              </a:rPr>
              <a:t>记忆</a:t>
            </a:r>
            <a:endParaRPr sz="920" b="1">
              <a:solidFill>
                <a:srgbClr val="375F87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805672" y="4059935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可编辑画像、语义偏好、来源与置信度（待完善）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38160" y="4608576"/>
            <a:ext cx="621792" cy="16459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20" b="1">
                <a:solidFill>
                  <a:srgbClr val="375F87"/>
                </a:solidFill>
                <a:latin typeface="微软雅黑" panose="020B0503020204020204" charset="-122"/>
              </a:rPr>
              <a:t>范围</a:t>
            </a:r>
            <a:endParaRPr sz="920" b="1">
              <a:solidFill>
                <a:srgbClr val="375F87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805672" y="4608576"/>
            <a:ext cx="2532888" cy="32918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l"/>
            <a:r>
              <a:rPr sz="910" b="0">
                <a:solidFill>
                  <a:srgbClr val="28221B"/>
                </a:solidFill>
                <a:latin typeface="微软雅黑" panose="020B0503020204020204" charset="-122"/>
              </a:rPr>
              <a:t>按 user_id 严格私有；仅向 Planner 提供 Top-K 召回</a:t>
            </a:r>
            <a:endParaRPr sz="91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2333</Words>
  <Application>WPS 演示</Application>
  <PresentationFormat>On-screen Show (4:3)</PresentationFormat>
  <Paragraphs>280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TravelMind 实验二 - 概要设计与详细设计</dc:title>
  <dc:creator>yf</dc:creator>
  <dc:description>generated using python-pptx</dc:description>
  <cp:lastModifiedBy>yf</cp:lastModifiedBy>
  <cp:revision>7</cp:revision>
  <dcterms:created xsi:type="dcterms:W3CDTF">2013-01-27T09:14:00Z</dcterms:created>
  <dcterms:modified xsi:type="dcterms:W3CDTF">2026-07-24T01:56:04Z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70D5C01AD2A04E64BEEF9816EC2A0EB1_12</vt:lpwstr>
  </property>
  <property fmtid="{D5CDD505-2E9C-101B-9397-08002B2CF9AE}" pid="3" name="KSOProductBuildVer">
    <vt:lpwstr>2052-12.1.0.26895</vt:lpwstr>
  </property>
</Properties>
</file>