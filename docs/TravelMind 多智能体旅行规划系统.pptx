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21792"/>
            <a:ext cx="475488" cy="475488"/>
          </a:xfrm>
          <a:prstGeom prst="roundRect">
            <a:avLst/>
          </a:prstGeom>
          <a:solidFill>
            <a:srgbClr val="BE4C23"/>
          </a:solidFill>
          <a:ln>
            <a:solidFill>
              <a:srgbClr val="BE4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94944"/>
            <a:ext cx="32004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700" b="1">
                <a:solidFill>
                  <a:srgbClr val="FFFDF8"/>
                </a:solidFill>
                <a:latin typeface="微软雅黑" panose="020B0503020204020204" charset="-122"/>
              </a:rPr>
              <a:t>途</a:t>
            </a:r>
            <a:endParaRPr sz="17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1872" y="667512"/>
            <a:ext cx="36576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800" b="1">
                <a:solidFill>
                  <a:srgbClr val="28221B"/>
                </a:solidFill>
                <a:latin typeface="微软雅黑" panose="020B0503020204020204" charset="-122"/>
              </a:rPr>
              <a:t>TravelMind</a:t>
            </a:r>
            <a:endParaRPr sz="18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1872" y="987552"/>
            <a:ext cx="411480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716557"/>
                </a:solidFill>
                <a:latin typeface="微软雅黑" panose="020B0503020204020204" charset="-122"/>
              </a:rPr>
              <a:t>AI 个性化旅行规划助手</a:t>
            </a:r>
            <a:endParaRPr sz="1050" b="1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91440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900" b="1">
                <a:solidFill>
                  <a:srgbClr val="28221B"/>
                </a:solidFill>
                <a:latin typeface="微软雅黑" panose="020B0503020204020204" charset="-122"/>
              </a:rPr>
              <a:t>TravelMind 多智能体旅行规划系统</a:t>
            </a:r>
            <a:endParaRPr sz="29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706624"/>
            <a:ext cx="731520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200" b="1">
                <a:solidFill>
                  <a:srgbClr val="BE4C23"/>
                </a:solidFill>
                <a:latin typeface="微软雅黑" panose="020B0503020204020204" charset="-122"/>
              </a:rPr>
              <a:t>需求分析与架构设计</a:t>
            </a:r>
            <a:endParaRPr sz="22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3255264"/>
            <a:ext cx="73152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0">
                <a:solidFill>
                  <a:srgbClr val="716557"/>
                </a:solidFill>
                <a:latin typeface="微软雅黑" panose="020B0503020204020204" charset="-122"/>
              </a:rPr>
              <a:t>聚焦：动态调整 Agent · 个性化语义记忆</a:t>
            </a:r>
            <a:endParaRPr sz="13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4005072"/>
            <a:ext cx="1046988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251960"/>
            <a:ext cx="10972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项目现状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21992" y="4133087"/>
            <a:ext cx="813816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00" b="1">
                <a:solidFill>
                  <a:srgbClr val="28221B"/>
                </a:solidFill>
                <a:latin typeface="微软雅黑" panose="020B0503020204020204" charset="-122"/>
              </a:rPr>
              <a:t>已完成 FastAPI + LangGraph + DeepSeek + 高德地图的端到端旅行规划；下一阶段从“能生成”升级到“能动态调整、能持续理解用户”。</a:t>
            </a:r>
            <a:endParaRPr sz="14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01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需求评价与取舍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为什么要做 TravelMind？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02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01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真实需求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路线还要考虑天气、开放时间、餐饮偏好与临时变化；一次性模板无法满足。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02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5424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可复用基础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5424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复用 FloatTrip 的 LangGraph、FastAPI、高德 POI 与地图能力，聚焦工程改进。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01583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D59730"/>
                </a:solidFill>
                <a:latin typeface="微软雅黑" panose="020B0503020204020204" charset="-122"/>
              </a:rPr>
              <a:t>03</a:t>
            </a:r>
            <a:endParaRPr sz="11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5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开发边界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66175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优先解决指定地点、动态重规划和长期偏好三个高价值问题。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04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1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数据可验证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地点、天气、餐厅由高德实时工具提供，避免模型编造事实。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0832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05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35424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个性化价值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5424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“不能吃辣、少走路”等偏好应跨会话保留，不需每次重复描述。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01583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D59730"/>
                </a:solidFill>
                <a:latin typeface="微软雅黑" panose="020B0503020204020204" charset="-122"/>
              </a:rPr>
              <a:t>06</a:t>
            </a:r>
            <a:endParaRPr sz="11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66175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迭代优先级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5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先做动态调整与可控记忆；RAG、复杂交通作为后续扩展。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智能体分工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当前已实现的 Agent 工作流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03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01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Intent Agent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抽取目的地、日期、偏好；缺失信息时要求补充。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02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5424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POI / Weather Tools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5424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高德检索景点、天气、餐厅与路线，提供事实输入。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01583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D59730"/>
                </a:solidFill>
                <a:latin typeface="微软雅黑" panose="020B0503020204020204" charset="-122"/>
              </a:rPr>
              <a:t>03</a:t>
            </a:r>
            <a:endParaRPr sz="11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5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Planner Agent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66175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仅从候选池选点，生成按天、按时段的行程草案。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04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1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Reviewer Agent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检查候选池约束、偏好匹配与地理跨度，反馈修改。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0832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05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35424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Time Check Agent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5424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核验景点安排是否位于开放时间内。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01583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D59730"/>
                </a:solidFill>
                <a:latin typeface="微软雅黑" panose="020B0503020204020204" charset="-122"/>
              </a:rPr>
              <a:t>06</a:t>
            </a:r>
            <a:endParaRPr sz="11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66175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Profile / Memory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5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SQLite 保存画像；Chroma 召回长期偏好并注入规划。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问题诊断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为什么当前规划效果还不够好？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04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109728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现有问题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2212848"/>
            <a:ext cx="4800600" cy="594360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1508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28221B"/>
                </a:solidFill>
                <a:latin typeface="微软雅黑" panose="020B0503020204020204" charset="-122"/>
              </a:rPr>
              <a:t>小众地点缺失</a:t>
            </a:r>
            <a:endParaRPr sz="11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0280" y="2304288"/>
            <a:ext cx="3063240" cy="23749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lang="zh-CN" sz="950" b="0">
                <a:solidFill>
                  <a:srgbClr val="716557"/>
                </a:solidFill>
                <a:latin typeface="微软雅黑" panose="020B0503020204020204" charset="-122"/>
              </a:rPr>
              <a:t>想去的景点</a:t>
            </a:r>
            <a:r>
              <a:rPr sz="950" b="0">
                <a:solidFill>
                  <a:srgbClr val="716557"/>
                </a:solidFill>
                <a:latin typeface="微软雅黑" panose="020B0503020204020204" charset="-122"/>
              </a:rPr>
              <a:t>不在热门候选池时，无法安全加入。</a:t>
            </a:r>
            <a:endParaRPr sz="9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3232" y="2980944"/>
            <a:ext cx="4800600" cy="594360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90672"/>
            <a:ext cx="1508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28221B"/>
                </a:solidFill>
                <a:latin typeface="微软雅黑" panose="020B0503020204020204" charset="-122"/>
              </a:rPr>
              <a:t>交通没有参与排程</a:t>
            </a:r>
            <a:endParaRPr sz="11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0280" y="3072384"/>
            <a:ext cx="3063240" cy="3291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16557"/>
                </a:solidFill>
                <a:latin typeface="微软雅黑" panose="020B0503020204020204" charset="-122"/>
              </a:rPr>
              <a:t>地图全局默认驾车、点对点仅步行；Planner 不按通勤时间校验。</a:t>
            </a:r>
            <a:endParaRPr sz="9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3232" y="3749039"/>
            <a:ext cx="4800600" cy="594360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58768"/>
            <a:ext cx="1508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28221B"/>
                </a:solidFill>
                <a:latin typeface="微软雅黑" panose="020B0503020204020204" charset="-122"/>
              </a:rPr>
              <a:t>修改链路不完整</a:t>
            </a:r>
            <a:endParaRPr sz="11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40280" y="3840479"/>
            <a:ext cx="3063240" cy="3291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16557"/>
                </a:solidFill>
                <a:latin typeface="微软雅黑" panose="020B0503020204020204" charset="-122"/>
              </a:rPr>
              <a:t>下雨、晚出发、闭馆后的局部重规划缺少完整时间复核。</a:t>
            </a:r>
            <a:endParaRPr sz="9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4517136"/>
            <a:ext cx="4800600" cy="594360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26864"/>
            <a:ext cx="1508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28221B"/>
                </a:solidFill>
                <a:latin typeface="微软雅黑" panose="020B0503020204020204" charset="-122"/>
              </a:rPr>
              <a:t>工具失败不可解释</a:t>
            </a:r>
            <a:endParaRPr sz="11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40280" y="4608575"/>
            <a:ext cx="3063240" cy="32918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0">
                <a:solidFill>
                  <a:srgbClr val="716557"/>
                </a:solidFill>
                <a:latin typeface="微软雅黑" panose="020B0503020204020204" charset="-122"/>
              </a:rPr>
              <a:t>天气接口失败统一降级，用户不清楚具体原因。</a:t>
            </a:r>
            <a:endParaRPr sz="9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89320" y="1828800"/>
            <a:ext cx="365760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200" b="1">
                <a:solidFill>
                  <a:srgbClr val="37654F"/>
                </a:solidFill>
                <a:latin typeface="微软雅黑" panose="020B0503020204020204" charset="-122"/>
              </a:rPr>
              <a:t>下一阶段：动态调整 Agent</a:t>
            </a:r>
            <a:endParaRPr sz="12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35040" y="2212848"/>
            <a:ext cx="2286000" cy="713232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359152"/>
            <a:ext cx="29260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37654F"/>
                </a:solidFill>
                <a:latin typeface="微软雅黑" panose="020B0503020204020204" charset="-122"/>
              </a:rPr>
              <a:t>01</a:t>
            </a:r>
            <a:endParaRPr sz="95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73952" y="2322576"/>
            <a:ext cx="1682496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28221B"/>
                </a:solidFill>
                <a:latin typeface="微软雅黑" panose="020B0503020204020204" charset="-122"/>
              </a:rPr>
              <a:t>识别变化 / 指定地点</a:t>
            </a:r>
            <a:endParaRPr sz="10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86800" y="2212848"/>
            <a:ext cx="2286000" cy="713232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2359152"/>
            <a:ext cx="29260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37654F"/>
                </a:solidFill>
                <a:latin typeface="微软雅黑" panose="020B0503020204020204" charset="-122"/>
              </a:rPr>
              <a:t>02</a:t>
            </a:r>
            <a:endParaRPr sz="95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25712" y="2322576"/>
            <a:ext cx="1682496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28221B"/>
                </a:solidFill>
                <a:latin typeface="微软雅黑" panose="020B0503020204020204" charset="-122"/>
              </a:rPr>
              <a:t>精确 POI 搜索与消歧</a:t>
            </a:r>
            <a:endParaRPr sz="10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0" y="3264408"/>
            <a:ext cx="2286000" cy="713232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3410712"/>
            <a:ext cx="29260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37654F"/>
                </a:solidFill>
                <a:latin typeface="微软雅黑" panose="020B0503020204020204" charset="-122"/>
              </a:rPr>
              <a:t>03</a:t>
            </a:r>
            <a:endParaRPr sz="95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73952" y="3374136"/>
            <a:ext cx="1682496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28221B"/>
                </a:solidFill>
                <a:latin typeface="微软雅黑" panose="020B0503020204020204" charset="-122"/>
              </a:rPr>
              <a:t>动态补入候选池</a:t>
            </a:r>
            <a:endParaRPr sz="10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86800" y="3264408"/>
            <a:ext cx="2286000" cy="713232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3410712"/>
            <a:ext cx="29260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37654F"/>
                </a:solidFill>
                <a:latin typeface="微软雅黑" panose="020B0503020204020204" charset="-122"/>
              </a:rPr>
              <a:t>04</a:t>
            </a:r>
            <a:endParaRPr sz="95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25712" y="3374136"/>
            <a:ext cx="1682496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28221B"/>
                </a:solidFill>
                <a:latin typeface="微软雅黑" panose="020B0503020204020204" charset="-122"/>
              </a:rPr>
              <a:t>交通与时间约束校验</a:t>
            </a:r>
            <a:endParaRPr sz="10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035040" y="4315968"/>
            <a:ext cx="2286000" cy="713232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3912" y="4462272"/>
            <a:ext cx="29260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37654F"/>
                </a:solidFill>
                <a:latin typeface="微软雅黑" panose="020B0503020204020204" charset="-122"/>
              </a:rPr>
              <a:t>05</a:t>
            </a:r>
            <a:endParaRPr sz="95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4425696"/>
            <a:ext cx="1682496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28221B"/>
                </a:solidFill>
                <a:latin typeface="微软雅黑" panose="020B0503020204020204" charset="-122"/>
              </a:rPr>
              <a:t>仅重规划受影响日期</a:t>
            </a:r>
            <a:endParaRPr sz="10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686800" y="4315968"/>
            <a:ext cx="2286000" cy="713232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05672" y="4462272"/>
            <a:ext cx="29260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50" b="1">
                <a:solidFill>
                  <a:srgbClr val="37654F"/>
                </a:solidFill>
                <a:latin typeface="微软雅黑" panose="020B0503020204020204" charset="-122"/>
              </a:rPr>
              <a:t>06</a:t>
            </a:r>
            <a:endParaRPr sz="95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25712" y="4425696"/>
            <a:ext cx="1682496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1">
                <a:solidFill>
                  <a:srgbClr val="28221B"/>
                </a:solidFill>
                <a:latin typeface="微软雅黑" panose="020B0503020204020204" charset="-122"/>
              </a:rPr>
              <a:t>输出调整原因与备选方案</a:t>
            </a:r>
            <a:endParaRPr sz="105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记忆设计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从静态用户画像到可控的语义记忆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05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3310128" cy="3584448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56032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00" b="1">
                <a:solidFill>
                  <a:srgbClr val="BE4C23"/>
                </a:solidFill>
                <a:latin typeface="微软雅黑" panose="020B0503020204020204" charset="-122"/>
              </a:rPr>
              <a:t>现有：结构化画像</a:t>
            </a:r>
            <a:endParaRPr sz="14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788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0">
                <a:solidFill>
                  <a:srgbClr val="716557"/>
                </a:solidFill>
                <a:latin typeface="微软雅黑" panose="020B0503020204020204" charset="-122"/>
              </a:rPr>
              <a:t>SQLite · 可编辑 · 显式偏好</a:t>
            </a:r>
            <a:endParaRPr sz="10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2697480" cy="329184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916936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景点：适合拍照、室内/遮阳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3319272"/>
            <a:ext cx="2697480" cy="329184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401568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餐饮：不能吃辣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" y="3803904"/>
            <a:ext cx="2697480" cy="329184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886200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方式：citywalk、放松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4288536"/>
            <a:ext cx="2697480" cy="329184"/>
          </a:xfrm>
          <a:prstGeom prst="roundRect">
            <a:avLst/>
          </a:prstGeom>
          <a:solidFill>
            <a:srgbClr val="F5E1D8"/>
          </a:solidFill>
          <a:ln>
            <a:solidFill>
              <a:srgbClr val="F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4370832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历史：去过的城市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34840" y="1847088"/>
            <a:ext cx="3310128" cy="3584448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075688"/>
            <a:ext cx="256032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00" b="1">
                <a:solidFill>
                  <a:srgbClr val="37654F"/>
                </a:solidFill>
                <a:latin typeface="微软雅黑" panose="020B0503020204020204" charset="-122"/>
              </a:rPr>
              <a:t>新增：语义记忆层</a:t>
            </a:r>
            <a:endParaRPr sz="14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40" y="2423160"/>
            <a:ext cx="2788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0">
                <a:solidFill>
                  <a:srgbClr val="716557"/>
                </a:solidFill>
                <a:latin typeface="微软雅黑" panose="020B0503020204020204" charset="-122"/>
              </a:rPr>
              <a:t>Chroma 本地持久化 · user_id 隔离 · Top-3 召回</a:t>
            </a:r>
            <a:endParaRPr sz="10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2834640"/>
            <a:ext cx="2697480" cy="329184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2916936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带父母时少走路，优先打车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63440" y="3319272"/>
            <a:ext cx="2697480" cy="329184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401568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不吃太辣，倾向微辣或不辣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663440" y="3803904"/>
            <a:ext cx="2697480" cy="329184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886200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去过洪崖洞，不希望重复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663440" y="4288536"/>
            <a:ext cx="2697480" cy="329184"/>
          </a:xfrm>
          <a:prstGeom prst="roundRect">
            <a:avLst/>
          </a:prstGeom>
          <a:solidFill>
            <a:srgbClr val="E1EEE4"/>
          </a:solidFill>
          <a:ln>
            <a:solidFill>
              <a:srgbClr val="E1E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4370832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当前明确需求优先于旧记忆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183879" y="1847088"/>
            <a:ext cx="3310128" cy="3584448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075688"/>
            <a:ext cx="256032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400" b="1">
                <a:solidFill>
                  <a:srgbClr val="D59730"/>
                </a:solidFill>
                <a:latin typeface="微软雅黑" panose="020B0503020204020204" charset="-122"/>
              </a:rPr>
              <a:t>待优化：记忆治理</a:t>
            </a:r>
            <a:endParaRPr sz="14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480" y="2423160"/>
            <a:ext cx="2788920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50" b="0">
                <a:solidFill>
                  <a:srgbClr val="716557"/>
                </a:solidFill>
                <a:latin typeface="微软雅黑" panose="020B0503020204020204" charset="-122"/>
              </a:rPr>
              <a:t>避免“记住”变成“误记”或“过度记忆”</a:t>
            </a:r>
            <a:endParaRPr sz="10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412480" y="2834640"/>
            <a:ext cx="2697480" cy="329184"/>
          </a:xfrm>
          <a:prstGeom prst="roundRect">
            <a:avLst/>
          </a:prstGeom>
          <a:solidFill>
            <a:srgbClr val="F9EFD7"/>
          </a:solidFill>
          <a:ln>
            <a:solidFill>
              <a:srgbClr val="F9E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2916936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与手动画像去重和优先级协调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12480" y="3319272"/>
            <a:ext cx="2697480" cy="329184"/>
          </a:xfrm>
          <a:prstGeom prst="roundRect">
            <a:avLst/>
          </a:prstGeom>
          <a:solidFill>
            <a:srgbClr val="F9EFD7"/>
          </a:solidFill>
          <a:ln>
            <a:solidFill>
              <a:srgbClr val="F9E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3401568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记录来源、时间、置信度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412480" y="3803904"/>
            <a:ext cx="2697480" cy="329184"/>
          </a:xfrm>
          <a:prstGeom prst="roundRect">
            <a:avLst/>
          </a:prstGeom>
          <a:solidFill>
            <a:srgbClr val="F9EFD7"/>
          </a:solidFill>
          <a:ln>
            <a:solidFill>
              <a:srgbClr val="F9E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3886200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个人中心查看 / 删除 AI 记忆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412480" y="4288536"/>
            <a:ext cx="2697480" cy="329184"/>
          </a:xfrm>
          <a:prstGeom prst="roundRect">
            <a:avLst/>
          </a:prstGeom>
          <a:solidFill>
            <a:srgbClr val="F9EFD7"/>
          </a:solidFill>
          <a:ln>
            <a:solidFill>
              <a:srgbClr val="F9EF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4370832"/>
            <a:ext cx="2450592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960" b="0">
                <a:solidFill>
                  <a:srgbClr val="28221B"/>
                </a:solidFill>
                <a:latin typeface="微软雅黑" panose="020B0503020204020204" charset="-122"/>
              </a:rPr>
              <a:t>仅保存稳定、可复用的偏好</a:t>
            </a:r>
            <a:endParaRPr sz="96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系统架构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TravelMind 分层架构设计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06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87552" y="1810512"/>
            <a:ext cx="2011680" cy="457200"/>
          </a:xfrm>
          <a:prstGeom prst="roundRect">
            <a:avLst/>
          </a:prstGeom>
          <a:solidFill>
            <a:srgbClr val="BE4C23"/>
          </a:solidFill>
          <a:ln>
            <a:solidFill>
              <a:srgbClr val="BE4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920240"/>
            <a:ext cx="1737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微软雅黑" panose="020B0503020204020204" charset="-122"/>
              </a:rPr>
              <a:t>用户交互层</a:t>
            </a:r>
            <a:endParaRPr sz="11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27248" y="1810512"/>
            <a:ext cx="8092440" cy="45720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920240"/>
            <a:ext cx="7726679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20" b="0">
                <a:solidFill>
                  <a:srgbClr val="28221B"/>
                </a:solidFill>
                <a:latin typeface="微软雅黑" panose="020B0503020204020204" charset="-122"/>
              </a:rPr>
              <a:t>React · SSE 进度 · 地图 · 历史行程 · 我的画像</a:t>
            </a:r>
            <a:endParaRPr sz="102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87552" y="2496312"/>
            <a:ext cx="2011680" cy="457200"/>
          </a:xfrm>
          <a:prstGeom prst="roundRect">
            <a:avLst/>
          </a:prstGeom>
          <a:solidFill>
            <a:srgbClr val="37654F"/>
          </a:solidFill>
          <a:ln>
            <a:solidFill>
              <a:srgbClr val="376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06040"/>
            <a:ext cx="1737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微软雅黑" panose="020B0503020204020204" charset="-122"/>
              </a:rPr>
              <a:t>API / 服务层</a:t>
            </a:r>
            <a:endParaRPr sz="11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27248" y="2496312"/>
            <a:ext cx="8092440" cy="45720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606040"/>
            <a:ext cx="7726679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20" b="0">
                <a:solidFill>
                  <a:srgbClr val="28221B"/>
                </a:solidFill>
                <a:latin typeface="微软雅黑" panose="020B0503020204020204" charset="-122"/>
              </a:rPr>
              <a:t>FastAPI · JWT 登录 · 行程接口 · 异常降级</a:t>
            </a:r>
            <a:endParaRPr sz="102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87552" y="3182112"/>
            <a:ext cx="2011680" cy="457200"/>
          </a:xfrm>
          <a:prstGeom prst="roundRect">
            <a:avLst/>
          </a:prstGeom>
          <a:solidFill>
            <a:srgbClr val="D59730"/>
          </a:solidFill>
          <a:ln>
            <a:solidFill>
              <a:srgbClr val="D5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91840"/>
            <a:ext cx="1737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微软雅黑" panose="020B0503020204020204" charset="-122"/>
              </a:rPr>
              <a:t>编排与决策层</a:t>
            </a:r>
            <a:endParaRPr sz="11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27248" y="3182112"/>
            <a:ext cx="8092440" cy="45720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3291840"/>
            <a:ext cx="7726679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20" b="0">
                <a:solidFill>
                  <a:srgbClr val="28221B"/>
                </a:solidFill>
                <a:latin typeface="微软雅黑" panose="020B0503020204020204" charset="-122"/>
              </a:rPr>
              <a:t>LangGraph：Intent → Search → Planner ⇄ Reviewer → Time Check → Finalize</a:t>
            </a:r>
            <a:endParaRPr sz="102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87552" y="3867912"/>
            <a:ext cx="2011680" cy="457200"/>
          </a:xfrm>
          <a:prstGeom prst="roundRect">
            <a:avLst/>
          </a:prstGeom>
          <a:solidFill>
            <a:srgbClr val="BE4C23"/>
          </a:solidFill>
          <a:ln>
            <a:solidFill>
              <a:srgbClr val="BE4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977640"/>
            <a:ext cx="1737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微软雅黑" panose="020B0503020204020204" charset="-122"/>
              </a:rPr>
              <a:t>动态调整层（下一阶段）</a:t>
            </a:r>
            <a:endParaRPr sz="11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127248" y="3867912"/>
            <a:ext cx="8092440" cy="45720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977640"/>
            <a:ext cx="7726679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20" b="0">
                <a:solidFill>
                  <a:srgbClr val="28221B"/>
                </a:solidFill>
                <a:latin typeface="微软雅黑" panose="020B0503020204020204" charset="-122"/>
              </a:rPr>
              <a:t>地点消歧 · 动态工具选择 · 交通/时间校验 · 局部重规划</a:t>
            </a:r>
            <a:endParaRPr sz="102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7552" y="4553712"/>
            <a:ext cx="2011680" cy="457200"/>
          </a:xfrm>
          <a:prstGeom prst="roundRect">
            <a:avLst/>
          </a:prstGeom>
          <a:solidFill>
            <a:srgbClr val="37654F"/>
          </a:solidFill>
          <a:ln>
            <a:solidFill>
              <a:srgbClr val="376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663440"/>
            <a:ext cx="1737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微软雅黑" panose="020B0503020204020204" charset="-122"/>
              </a:rPr>
              <a:t>数据与记忆层</a:t>
            </a:r>
            <a:endParaRPr sz="11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127248" y="4553712"/>
            <a:ext cx="8092440" cy="45720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663440"/>
            <a:ext cx="7726679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20" b="0">
                <a:solidFill>
                  <a:srgbClr val="28221B"/>
                </a:solidFill>
                <a:latin typeface="微软雅黑" panose="020B0503020204020204" charset="-122"/>
              </a:rPr>
              <a:t>SQLite 用户画像/历史行程 · Chroma 语义偏好（本地持久化、user_id 隔离）</a:t>
            </a:r>
            <a:endParaRPr sz="102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87552" y="5239512"/>
            <a:ext cx="2011680" cy="457200"/>
          </a:xfrm>
          <a:prstGeom prst="roundRect">
            <a:avLst/>
          </a:prstGeom>
          <a:solidFill>
            <a:srgbClr val="D59730"/>
          </a:solidFill>
          <a:ln>
            <a:solidFill>
              <a:srgbClr val="D59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349240"/>
            <a:ext cx="1737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100" b="1">
                <a:solidFill>
                  <a:srgbClr val="FFFDF8"/>
                </a:solidFill>
                <a:latin typeface="微软雅黑" panose="020B0503020204020204" charset="-122"/>
              </a:rPr>
              <a:t>外部事实工具层</a:t>
            </a:r>
            <a:endParaRPr sz="110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127248" y="5239512"/>
            <a:ext cx="8092440" cy="45720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5349240"/>
            <a:ext cx="7726679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20" b="0">
                <a:solidFill>
                  <a:srgbClr val="28221B"/>
                </a:solidFill>
                <a:latin typeface="微软雅黑" panose="020B0503020204020204" charset="-122"/>
              </a:rPr>
              <a:t>高德 POI · 天气 · 餐厅 · 路线；模型不直接充当事实来源</a:t>
            </a:r>
            <a:endParaRPr sz="1020" b="0">
              <a:solidFill>
                <a:srgbClr val="28221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动态调整流程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下一阶段：让 Agent 对变化做“局部、可验证”的调整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07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47672"/>
            <a:ext cx="345643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84831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01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386584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用户提出需求或变化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2734056"/>
            <a:ext cx="3127248" cy="5212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“加北京大学”“下雨了”“晚出发两小时”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947672"/>
            <a:ext cx="345643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84831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02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5424" y="2386584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意图分类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5424" y="2734056"/>
            <a:ext cx="3127248" cy="5212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区分指定地点、天气变化、时间压缩、偏好变化。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01583" y="1947672"/>
            <a:ext cx="345643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084831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03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5" y="2386584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工具验证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66175" y="2734056"/>
            <a:ext cx="3127248" cy="5212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精确 POI 搜索 / 天气 / 路线 / 开放时间。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712464"/>
            <a:ext cx="345643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849624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04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1" y="4151376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影响范围判断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" y="4498848"/>
            <a:ext cx="3127248" cy="5212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定位受影响日期与节点，避免整份行程无谓重算。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0832" y="3712464"/>
            <a:ext cx="345643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849624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05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35424" y="4151376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局部重规划 + 审核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5424" y="4498848"/>
            <a:ext cx="3127248" cy="5212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Planner 生成替代方案；Reviewer + Time Check 校验。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01583" y="3712464"/>
            <a:ext cx="3456432" cy="141732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3849624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06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66175" y="4151376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解释与确认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5" y="4498848"/>
            <a:ext cx="3127248" cy="5212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展示调整原因、交通/时间变化与可回退版本。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1">
                <a:solidFill>
                  <a:srgbClr val="BE4C23"/>
                </a:solidFill>
                <a:latin typeface="微软雅黑" panose="020B0503020204020204" charset="-122"/>
              </a:rPr>
              <a:t>记忆隔离与验收</a:t>
            </a:r>
            <a:endParaRPr sz="10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7280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2600" b="1">
                <a:solidFill>
                  <a:srgbClr val="28221B"/>
                </a:solidFill>
                <a:latin typeface="微软雅黑" panose="020B0503020204020204" charset="-122"/>
              </a:rPr>
              <a:t>个性化必须“有用、可控、不过界”</a:t>
            </a:r>
            <a:endParaRPr sz="26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36192"/>
            <a:ext cx="10908792" cy="18288"/>
          </a:xfrm>
          <a:prstGeom prst="rect">
            <a:avLst/>
          </a:prstGeom>
          <a:solidFill>
            <a:srgbClr val="2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850" b="0">
                <a:solidFill>
                  <a:srgbClr val="716557"/>
                </a:solidFill>
                <a:latin typeface="微软雅黑" panose="020B0503020204020204" charset="-122"/>
              </a:rPr>
              <a:t>TravelMind · 需求分析与架构设计                         08</a:t>
            </a:r>
            <a:endParaRPr sz="85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01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用户隔离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每条记忆带 user_id 元数据；查询时强制过滤，只召回当前账号内容。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02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5424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数据隔离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5424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Key、SQLite 账号数据和 Chroma 索引均加入 .gitignore。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01583" y="1874519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011679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D59730"/>
                </a:solidFill>
                <a:latin typeface="微软雅黑" panose="020B0503020204020204" charset="-122"/>
              </a:rPr>
              <a:t>03</a:t>
            </a:r>
            <a:endParaRPr sz="11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175" y="2313432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优先级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66175" y="2660903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当前明确需求 &gt; 手动画像 &gt; 语义记忆。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BE4C23"/>
                </a:solidFill>
                <a:latin typeface="微软雅黑" panose="020B0503020204020204" charset="-122"/>
              </a:rPr>
              <a:t>04</a:t>
            </a:r>
            <a:endParaRPr sz="1100" b="1">
              <a:solidFill>
                <a:srgbClr val="BE4C23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671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写入边界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1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只保存稳定、可复用、用户明确表达的偏好。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0832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37654F"/>
                </a:solidFill>
                <a:latin typeface="微软雅黑" panose="020B0503020204020204" charset="-122"/>
              </a:rPr>
              <a:t>05</a:t>
            </a:r>
            <a:endParaRPr sz="1100" b="1">
              <a:solidFill>
                <a:srgbClr val="37654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35424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可解释与可删除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5424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后续在“我的画像”展示 AI 记忆，支持查看、删除与纠错。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01583" y="3776472"/>
            <a:ext cx="3456432" cy="1554480"/>
          </a:xfrm>
          <a:prstGeom prst="roundRect">
            <a:avLst/>
          </a:prstGeom>
          <a:solidFill>
            <a:srgbClr val="FFFDF8"/>
          </a:solidFill>
          <a:ln>
            <a:solidFill>
              <a:srgbClr val="DED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3913632"/>
            <a:ext cx="50292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100" b="1">
                <a:solidFill>
                  <a:srgbClr val="D59730"/>
                </a:solidFill>
                <a:latin typeface="微软雅黑" panose="020B0503020204020204" charset="-122"/>
              </a:rPr>
              <a:t>06</a:t>
            </a:r>
            <a:endParaRPr sz="1100" b="1">
              <a:solidFill>
                <a:srgbClr val="D5973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66175" y="4215383"/>
            <a:ext cx="3127248" cy="2926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300" b="1">
                <a:solidFill>
                  <a:srgbClr val="28221B"/>
                </a:solidFill>
                <a:latin typeface="微软雅黑" panose="020B0503020204020204" charset="-122"/>
              </a:rPr>
              <a:t>验证指标</a:t>
            </a:r>
            <a:endParaRPr sz="1300" b="1">
              <a:solidFill>
                <a:srgbClr val="28221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5" y="4562856"/>
            <a:ext cx="312724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/>
            <a:r>
              <a:rPr sz="1000" b="0">
                <a:solidFill>
                  <a:srgbClr val="716557"/>
                </a:solidFill>
                <a:latin typeface="微软雅黑" panose="020B0503020204020204" charset="-122"/>
              </a:rPr>
              <a:t>测试用户隔离、删除后不召回、偏好是否影响规划。</a:t>
            </a:r>
            <a:endParaRPr sz="1000" b="0">
              <a:solidFill>
                <a:srgbClr val="71655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10908792" cy="393192"/>
          </a:xfrm>
          <a:prstGeom prst="roundRect">
            <a:avLst/>
          </a:prstGeom>
          <a:solidFill>
            <a:srgbClr val="28221B"/>
          </a:solidFill>
          <a:ln>
            <a:solidFill>
              <a:srgbClr val="282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10533888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/>
            <a:r>
              <a:rPr sz="1030" b="1">
                <a:solidFill>
                  <a:srgbClr val="FFFDF8"/>
                </a:solidFill>
                <a:latin typeface="微软雅黑" panose="020B0503020204020204" charset="-122"/>
              </a:rPr>
              <a:t>阶段性结论：现有系统已具备完整规划闭环；下一阶段以动态调整与可控语义记忆为核心，把“推荐结果”提升为“可信、可执行、持续个性化的旅行方案”。</a:t>
            </a:r>
            <a:endParaRPr sz="1030" b="1">
              <a:solidFill>
                <a:srgbClr val="FFFDF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2415</Words>
  <Application>WPS 演示</Application>
  <PresentationFormat>On-screen Show (4:3)</PresentationFormat>
  <Paragraphs>310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TravelMind AI旅行规划助手</dc:title>
  <dc:creator>yf</dc:creator>
  <dc:description>generated using python-pptx</dc:description>
  <cp:lastModifiedBy>yf</cp:lastModifiedBy>
  <cp:revision>5</cp:revision>
  <dcterms:created xsi:type="dcterms:W3CDTF">2013-01-27T09:14:00Z</dcterms:created>
  <dcterms:modified xsi:type="dcterms:W3CDTF">2026-07-23T08:19:34Z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DF258214944C4CD3A95B45567F3F263D_12</vt:lpwstr>
  </property>
  <property fmtid="{D5CDD505-2E9C-101B-9397-08002B2CF9AE}" pid="3" name="KSOProductBuildVer">
    <vt:lpwstr>2052-12.1.0.26895</vt:lpwstr>
  </property>
</Properties>
</file>