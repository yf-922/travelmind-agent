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6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566928"/>
            <a:ext cx="100584" cy="5358384"/>
          </a:xfrm>
          <a:prstGeom prst="rect">
            <a:avLst/>
          </a:prstGeom>
          <a:solidFill>
            <a:srgbClr val="E87E37"/>
          </a:solidFill>
          <a:ln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749808"/>
            <a:ext cx="73152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B5CDEE"/>
                </a:solidFill>
                <a:latin typeface="Microsoft YaHei"/>
              </a:rPr>
              <a:t>AI 多智能体开发与应用 · 项目综合答辩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6968" y="1389888"/>
            <a:ext cx="8046720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Microsoft YaHei"/>
              </a:rPr>
              <a:t>TravelMind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" y="2167128"/>
            <a:ext cx="877824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000" b="0">
                <a:solidFill>
                  <a:srgbClr val="DFE8F7"/>
                </a:solidFill>
                <a:latin typeface="Microsoft YaHei"/>
              </a:rPr>
              <a:t>面向真实出行需求的多智能体旅行规划助手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" y="2807208"/>
            <a:ext cx="96012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BBD0ED"/>
                </a:solidFill>
                <a:latin typeface="Microsoft YaHei"/>
              </a:rPr>
              <a:t>Supervisor 调度 · 独立 Agent 记忆 · RAG / 工具调用 · 评测闭环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" y="4005072"/>
            <a:ext cx="5212080" cy="1051560"/>
          </a:xfrm>
          <a:prstGeom prst="roundRect">
            <a:avLst/>
          </a:prstGeom>
          <a:solidFill>
            <a:srgbClr val="1B3763"/>
          </a:solidFill>
          <a:ln>
            <a:solidFill>
              <a:srgbClr val="496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4270248"/>
            <a:ext cx="4663440" cy="51206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YaHei"/>
              </a:rPr>
              <a:t>汇报人：请填写    学号：请填写
项目仓库：Trip_Agent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508760"/>
            <a:ext cx="1207008" cy="640080"/>
          </a:xfrm>
          <a:prstGeom prst="roundRect">
            <a:avLst/>
          </a:prstGeom>
          <a:solidFill>
            <a:srgbClr val="1F5BA8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58200" y="1719072"/>
            <a:ext cx="1207008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Intent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21240" y="1508760"/>
            <a:ext cx="1207008" cy="640080"/>
          </a:xfrm>
          <a:prstGeom prst="roundRect">
            <a:avLst/>
          </a:prstGeom>
          <a:solidFill>
            <a:srgbClr val="128F8B"/>
          </a:solidFill>
          <a:ln>
            <a:solidFill>
              <a:srgbClr val="12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21240" y="1719072"/>
            <a:ext cx="1207008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Planner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2606039"/>
            <a:ext cx="1207008" cy="640080"/>
          </a:xfrm>
          <a:prstGeom prst="roundRect">
            <a:avLst/>
          </a:prstGeom>
          <a:solidFill>
            <a:srgbClr val="E87E37"/>
          </a:solidFill>
          <a:ln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58200" y="2816352"/>
            <a:ext cx="1207008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Reviewer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21240" y="2606039"/>
            <a:ext cx="1207008" cy="640080"/>
          </a:xfrm>
          <a:prstGeom prst="roundRect">
            <a:avLst/>
          </a:prstGeom>
          <a:solidFill>
            <a:srgbClr val="C44747"/>
          </a:solidFill>
          <a:ln>
            <a:solidFill>
              <a:srgbClr val="C4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2816352"/>
            <a:ext cx="1207008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182880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00" b="0">
                <a:solidFill>
                  <a:srgbClr val="B5CDEE"/>
                </a:solidFill>
                <a:latin typeface="Microsoft YaHei"/>
              </a:rPr>
              <a:t>2026.07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384048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00" b="1">
                <a:solidFill>
                  <a:srgbClr val="1F5BA8"/>
                </a:solidFill>
                <a:latin typeface="Microsoft YaHei"/>
              </a:rPr>
              <a:t>01 ·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06424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12648"/>
                </a:solidFill>
                <a:latin typeface="Microsoft YaHei"/>
              </a:rPr>
              <a:t>问题与目标：把“想去哪”变成可执行行程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00" b="0">
                <a:solidFill>
                  <a:srgbClr val="5E6C7E"/>
                </a:solidFill>
                <a:latin typeface="Microsoft YaHei"/>
              </a:rPr>
              <a:t>目标用户：需要快速获得景点、餐饮、交通、预算建议的自由行用户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481328"/>
            <a:ext cx="960120" cy="50292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3566160" cy="3246120"/>
          </a:xfrm>
          <a:prstGeom prst="roundRect">
            <a:avLst/>
          </a:prstGeom>
          <a:solidFill>
            <a:srgbClr val="F4F7F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73152" cy="3246120"/>
          </a:xfrm>
          <a:prstGeom prst="rect">
            <a:avLst/>
          </a:prstGeom>
          <a:solidFill>
            <a:srgbClr val="E87E37"/>
          </a:solidFill>
          <a:ln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47672"/>
            <a:ext cx="3154679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12648"/>
                </a:solidFill>
                <a:latin typeface="Microsoft YaHei"/>
              </a:rPr>
              <a:t>用户痛点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295144"/>
            <a:ext cx="3154679" cy="262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信息分散：景点、餐饮、天气、交通要多次搜索</a:t>
            </a:r>
          </a:p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需求有约束：日期、预算、节奏、饮食偏好难同时满足</a:t>
            </a:r>
          </a:p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结果不可验证：模型容易编造地点或忽略路线可行性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566160" cy="3246120"/>
          </a:xfrm>
          <a:prstGeom prst="roundRect">
            <a:avLst/>
          </a:prstGeom>
          <a:solidFill>
            <a:srgbClr val="F4F7F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73152" cy="3246120"/>
          </a:xfrm>
          <a:prstGeom prst="rect">
            <a:avLst/>
          </a:prstGeom>
          <a:solidFill>
            <a:srgbClr val="128F8B"/>
          </a:solidFill>
          <a:ln>
            <a:solidFill>
              <a:srgbClr val="12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47672"/>
            <a:ext cx="3154679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12648"/>
                </a:solidFill>
                <a:latin typeface="Microsoft YaHei"/>
              </a:rPr>
              <a:t>系统目标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81144" y="2295144"/>
            <a:ext cx="3154679" cy="262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多 Agent 分工完成检索、规划、审核</a:t>
            </a:r>
          </a:p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调用真实高德 POI / 路线 / 天气等工具</a:t>
            </a:r>
          </a:p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将测试、日志、评估纳入交付，而不是只生成文本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783080"/>
            <a:ext cx="3520440" cy="3246120"/>
          </a:xfrm>
          <a:prstGeom prst="roundRect">
            <a:avLst/>
          </a:prstGeom>
          <a:solidFill>
            <a:srgbClr val="F4F7F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783080"/>
            <a:ext cx="73152" cy="3246120"/>
          </a:xfrm>
          <a:prstGeom prst="rect">
            <a:avLst/>
          </a:prstGeom>
          <a:solidFill>
            <a:srgbClr val="1F5BA8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947672"/>
            <a:ext cx="3108960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12648"/>
                </a:solidFill>
                <a:latin typeface="Microsoft YaHei"/>
              </a:rPr>
              <a:t>一句话定位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2295144"/>
            <a:ext cx="3108960" cy="26243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TravelMind 是一个由 Supervisor 集中编排的旅行规划系统</a:t>
            </a:r>
          </a:p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从用户自然语言请求出发，生成带路线、预算和依据的行程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E6C7E"/>
                </a:solidFill>
                <a:latin typeface="Microsoft YaHei"/>
              </a:rPr>
              <a:t>TravelMind · AI 多智能体旅行规划助手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850" b="0">
                <a:solidFill>
                  <a:srgbClr val="5E6C7E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384048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00" b="1">
                <a:solidFill>
                  <a:srgbClr val="1F5BA8"/>
                </a:solidFill>
                <a:latin typeface="Microsoft YaHei"/>
              </a:rPr>
              <a:t>02 ·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06424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12648"/>
                </a:solidFill>
                <a:latin typeface="Microsoft YaHei"/>
              </a:rPr>
              <a:t>核心方案与可展示能力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481328"/>
            <a:ext cx="960120" cy="50292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5212080" cy="1261872"/>
          </a:xfrm>
          <a:prstGeom prst="roundRect">
            <a:avLst/>
          </a:prstGeom>
          <a:solidFill>
            <a:srgbClr val="F8FA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59536" y="1947672"/>
            <a:ext cx="512064" cy="512064"/>
          </a:xfrm>
          <a:prstGeom prst="roundRect">
            <a:avLst/>
          </a:prstGeom>
          <a:solidFill>
            <a:srgbClr val="1F5BA8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66543"/>
            <a:ext cx="512064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947672"/>
            <a:ext cx="4023360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112648"/>
                </a:solidFill>
                <a:latin typeface="Microsoft YaHei"/>
              </a:rPr>
              <a:t>真实 POI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2304288"/>
            <a:ext cx="3977639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50" b="0">
                <a:solidFill>
                  <a:srgbClr val="5E6C7E"/>
                </a:solidFill>
                <a:latin typeface="Microsoft YaHei"/>
              </a:rPr>
              <a:t>候选池约束，减少景点幻觉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737360"/>
            <a:ext cx="5212080" cy="1261872"/>
          </a:xfrm>
          <a:prstGeom prst="roundRect">
            <a:avLst/>
          </a:prstGeom>
          <a:solidFill>
            <a:srgbClr val="F8FA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37376" y="1947672"/>
            <a:ext cx="512064" cy="512064"/>
          </a:xfrm>
          <a:prstGeom prst="roundRect">
            <a:avLst/>
          </a:prstGeom>
          <a:solidFill>
            <a:srgbClr val="128F8B"/>
          </a:solidFill>
          <a:ln>
            <a:solidFill>
              <a:srgbClr val="12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37376" y="2066543"/>
            <a:ext cx="512064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4031" y="1947672"/>
            <a:ext cx="4023360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112648"/>
                </a:solidFill>
                <a:latin typeface="Microsoft YaHei"/>
              </a:rPr>
              <a:t>规划与审核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1" y="2304288"/>
            <a:ext cx="3977639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50" b="0">
                <a:solidFill>
                  <a:srgbClr val="5E6C7E"/>
                </a:solidFill>
                <a:latin typeface="Microsoft YaHei"/>
              </a:rPr>
              <a:t>Planner 草案 → Reviewer 复核 → 有限返工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64991"/>
            <a:ext cx="5212080" cy="1261872"/>
          </a:xfrm>
          <a:prstGeom prst="roundRect">
            <a:avLst/>
          </a:prstGeom>
          <a:solidFill>
            <a:srgbClr val="F8FA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9536" y="3575303"/>
            <a:ext cx="512064" cy="512064"/>
          </a:xfrm>
          <a:prstGeom prst="roundRect">
            <a:avLst/>
          </a:prstGeom>
          <a:solidFill>
            <a:srgbClr val="E87E37"/>
          </a:solidFill>
          <a:ln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3694176"/>
            <a:ext cx="512064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575303"/>
            <a:ext cx="4023360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112648"/>
                </a:solidFill>
                <a:latin typeface="Microsoft YaHei"/>
              </a:rPr>
              <a:t>用户记忆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3931920"/>
            <a:ext cx="3977639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50" b="0">
                <a:solidFill>
                  <a:srgbClr val="5E6C7E"/>
                </a:solidFill>
                <a:latin typeface="Microsoft YaHei"/>
              </a:rPr>
              <a:t>用户画像、任务状态、Agent 私有记忆分层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364991"/>
            <a:ext cx="5212080" cy="1261872"/>
          </a:xfrm>
          <a:prstGeom prst="roundRect">
            <a:avLst/>
          </a:prstGeom>
          <a:solidFill>
            <a:srgbClr val="F8FA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37376" y="3575303"/>
            <a:ext cx="512064" cy="512064"/>
          </a:xfrm>
          <a:prstGeom prst="roundRect">
            <a:avLst/>
          </a:prstGeom>
          <a:solidFill>
            <a:srgbClr val="C44747"/>
          </a:solidFill>
          <a:ln>
            <a:solidFill>
              <a:srgbClr val="C4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3694176"/>
            <a:ext cx="512064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1" y="3575303"/>
            <a:ext cx="4023360" cy="24688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500" b="1">
                <a:solidFill>
                  <a:srgbClr val="112648"/>
                </a:solidFill>
                <a:latin typeface="Microsoft YaHei"/>
              </a:rPr>
              <a:t>工程防护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4031" y="3931920"/>
            <a:ext cx="3977639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50" b="0">
                <a:solidFill>
                  <a:srgbClr val="5E6C7E"/>
                </a:solidFill>
                <a:latin typeface="Microsoft YaHei"/>
              </a:rPr>
              <a:t>超时、重试、降级、权限边界、日志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349240"/>
            <a:ext cx="1069848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500" b="1">
                <a:solidFill>
                  <a:srgbClr val="112648"/>
                </a:solidFill>
                <a:latin typeface="Microsoft YaHei"/>
              </a:rPr>
              <a:t>答辩聚焦：不是“一个 Prompt 切换角色”，而是可审计的独立 Agent + 调度 + 记忆 + 评测闭环。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E6C7E"/>
                </a:solidFill>
                <a:latin typeface="Microsoft YaHei"/>
              </a:rPr>
              <a:t>TravelMind · AI 多智能体旅行规划助手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850" b="0">
                <a:solidFill>
                  <a:srgbClr val="5E6C7E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384048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00" b="1">
                <a:solidFill>
                  <a:srgbClr val="1F5BA8"/>
                </a:solidFill>
                <a:latin typeface="Microsoft YaHei"/>
              </a:rPr>
              <a:t>03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06424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12648"/>
                </a:solidFill>
                <a:latin typeface="Microsoft YaHei"/>
              </a:rPr>
              <a:t>系统架构：数据流、控制流与记忆边界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481328"/>
            <a:ext cx="960120" cy="50292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2331720"/>
            <a:ext cx="1188720" cy="658368"/>
          </a:xfrm>
          <a:prstGeom prst="roundRect">
            <a:avLst/>
          </a:prstGeom>
          <a:solidFill>
            <a:srgbClr val="1F5BA8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542032"/>
            <a:ext cx="1188720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用户请求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2331720"/>
            <a:ext cx="1325880" cy="658368"/>
          </a:xfrm>
          <a:prstGeom prst="roundRect">
            <a:avLst/>
          </a:prstGeom>
          <a:solidFill>
            <a:srgbClr val="112648"/>
          </a:solidFill>
          <a:ln>
            <a:solidFill>
              <a:srgbClr val="112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542032"/>
            <a:ext cx="1325880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Supervisor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554480"/>
            <a:ext cx="1920240" cy="658368"/>
          </a:xfrm>
          <a:prstGeom prst="roundRect">
            <a:avLst/>
          </a:prstGeom>
          <a:solidFill>
            <a:srgbClr val="128F8B"/>
          </a:solidFill>
          <a:ln>
            <a:solidFill>
              <a:srgbClr val="12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764792"/>
            <a:ext cx="1920240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Worker 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1600200" cy="658368"/>
          </a:xfrm>
          <a:prstGeom prst="roundRect">
            <a:avLst/>
          </a:prstGeom>
          <a:solidFill>
            <a:srgbClr val="E87E37"/>
          </a:solidFill>
          <a:ln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764792"/>
            <a:ext cx="1600200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工具 / RAG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2331720"/>
            <a:ext cx="1371600" cy="658368"/>
          </a:xfrm>
          <a:prstGeom prst="roundRect">
            <a:avLst/>
          </a:prstGeom>
          <a:solidFill>
            <a:srgbClr val="279663"/>
          </a:solidFill>
          <a:ln>
            <a:solidFill>
              <a:srgbClr val="279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0" y="2542032"/>
            <a:ext cx="1371600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规划结果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83080" y="2660904"/>
            <a:ext cx="320040" cy="0"/>
          </a:xfrm>
          <a:prstGeom prst="line">
            <a:avLst/>
          </a:prstGeom>
          <a:ln w="20320">
            <a:solidFill>
              <a:srgbClr val="1F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429000" y="1938528"/>
            <a:ext cx="411480" cy="722376"/>
          </a:xfrm>
          <a:prstGeom prst="line">
            <a:avLst/>
          </a:prstGeom>
          <a:ln w="20320">
            <a:solidFill>
              <a:srgbClr val="1F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60720" y="1883664"/>
            <a:ext cx="502920" cy="0"/>
          </a:xfrm>
          <a:prstGeom prst="line">
            <a:avLst/>
          </a:prstGeom>
          <a:ln w="20320">
            <a:solidFill>
              <a:srgbClr val="1F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863840" y="1883664"/>
            <a:ext cx="2011680" cy="777240"/>
          </a:xfrm>
          <a:prstGeom prst="line">
            <a:avLst/>
          </a:prstGeom>
          <a:ln w="20320">
            <a:solidFill>
              <a:srgbClr val="1F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886200" y="2514600"/>
            <a:ext cx="1417320" cy="566928"/>
          </a:xfrm>
          <a:prstGeom prst="roundRect">
            <a:avLst/>
          </a:prstGeom>
          <a:solidFill>
            <a:srgbClr val="E8F7F6"/>
          </a:solidFill>
          <a:ln>
            <a:solidFill>
              <a:srgbClr val="12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2697480"/>
            <a:ext cx="141732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1C2739"/>
                </a:solidFill>
                <a:latin typeface="Microsoft YaHei"/>
              </a:rPr>
              <a:t>Intent 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2514600"/>
            <a:ext cx="1417320" cy="566928"/>
          </a:xfrm>
          <a:prstGeom prst="roundRect">
            <a:avLst/>
          </a:prstGeom>
          <a:solidFill>
            <a:srgbClr val="E8F7F6"/>
          </a:solidFill>
          <a:ln>
            <a:solidFill>
              <a:srgbClr val="12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2697480"/>
            <a:ext cx="141732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1C2739"/>
                </a:solidFill>
                <a:latin typeface="Microsoft YaHei"/>
              </a:rPr>
              <a:t>POI Research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69480" y="2514600"/>
            <a:ext cx="1965960" cy="566928"/>
          </a:xfrm>
          <a:prstGeom prst="roundRect">
            <a:avLst/>
          </a:prstGeom>
          <a:solidFill>
            <a:srgbClr val="E8F7F6"/>
          </a:solidFill>
          <a:ln>
            <a:solidFill>
              <a:srgbClr val="12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9480" y="2697480"/>
            <a:ext cx="196596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050" b="1">
                <a:solidFill>
                  <a:srgbClr val="1C2739"/>
                </a:solidFill>
                <a:latin typeface="Microsoft YaHei"/>
              </a:rPr>
              <a:t>Planner / Reviewer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3977639"/>
            <a:ext cx="1069848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300" b="0">
                <a:solidFill>
                  <a:srgbClr val="5E6C7E"/>
                </a:solidFill>
                <a:latin typeface="Microsoft YaHei"/>
              </a:rPr>
              <a:t>控制流：Supervisor 决定下一位执行者；数据流：结构化消息在 Agent 间传递；工具数据不直接写入所有 Agent 记忆。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09160"/>
            <a:ext cx="3383280" cy="1170432"/>
          </a:xfrm>
          <a:prstGeom prst="roundRect">
            <a:avLst/>
          </a:prstGeom>
          <a:solidFill>
            <a:srgbClr val="F4F7F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709160"/>
            <a:ext cx="73152" cy="1170432"/>
          </a:xfrm>
          <a:prstGeom prst="rect">
            <a:avLst/>
          </a:prstGeom>
          <a:solidFill>
            <a:srgbClr val="E87E37"/>
          </a:solidFill>
          <a:ln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873752"/>
            <a:ext cx="2971800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12648"/>
                </a:solidFill>
                <a:latin typeface="Microsoft YaHei"/>
              </a:rPr>
              <a:t>外部数据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" y="5221224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高德 POI、路线、天气；旅行知识 RAG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07408" y="4709160"/>
            <a:ext cx="3383280" cy="1170432"/>
          </a:xfrm>
          <a:prstGeom prst="roundRect">
            <a:avLst/>
          </a:prstGeom>
          <a:solidFill>
            <a:srgbClr val="F4F7F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07408" y="4709160"/>
            <a:ext cx="73152" cy="1170432"/>
          </a:xfrm>
          <a:prstGeom prst="rect">
            <a:avLst/>
          </a:prstGeom>
          <a:solidFill>
            <a:srgbClr val="128F8B"/>
          </a:solidFill>
          <a:ln>
            <a:solidFill>
              <a:srgbClr val="12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6008" y="4873752"/>
            <a:ext cx="2971800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12648"/>
                </a:solidFill>
                <a:latin typeface="Microsoft YaHei"/>
              </a:rPr>
              <a:t>存储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45152" y="5221224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SQLite 行程 / 用户画像；Agent 独立记忆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74736" y="4709160"/>
            <a:ext cx="3383280" cy="1170432"/>
          </a:xfrm>
          <a:prstGeom prst="roundRect">
            <a:avLst/>
          </a:prstGeom>
          <a:solidFill>
            <a:srgbClr val="F4F7F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74736" y="4709160"/>
            <a:ext cx="73152" cy="1170432"/>
          </a:xfrm>
          <a:prstGeom prst="rect">
            <a:avLst/>
          </a:prstGeom>
          <a:solidFill>
            <a:srgbClr val="1F5BA8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3336" y="4873752"/>
            <a:ext cx="2971800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12648"/>
                </a:solidFill>
                <a:latin typeface="Microsoft YaHei"/>
              </a:rPr>
              <a:t>前端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5221224"/>
            <a:ext cx="2971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React + SSE 阶段播报 + 地图与预算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E6C7E"/>
                </a:solidFill>
                <a:latin typeface="Microsoft YaHei"/>
              </a:rPr>
              <a:t>TravelMind · AI 多智能体旅行规划助手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850" b="0">
                <a:solidFill>
                  <a:srgbClr val="5E6C7E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384048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00" b="1">
                <a:solidFill>
                  <a:srgbClr val="1F5BA8"/>
                </a:solidFill>
                <a:latin typeface="Microsoft YaHei"/>
              </a:rPr>
              <a:t>04 ·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06424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12648"/>
                </a:solidFill>
                <a:latin typeface="Microsoft YaHei"/>
              </a:rPr>
              <a:t>角色分工与记忆隔离：为什么这是真多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481328"/>
            <a:ext cx="960120" cy="50292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514600" cy="2880360"/>
          </a:xfrm>
          <a:prstGeom prst="roundRect">
            <a:avLst/>
          </a:prstGeom>
          <a:solidFill>
            <a:srgbClr val="F9FB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14600" cy="502920"/>
          </a:xfrm>
          <a:prstGeom prst="roundRect">
            <a:avLst/>
          </a:prstGeom>
          <a:solidFill>
            <a:srgbClr val="1F5BA8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38528"/>
            <a:ext cx="251460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Intent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487168"/>
            <a:ext cx="201168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1F5BA8"/>
                </a:solidFill>
                <a:latin typeface="Microsoft YaHei"/>
              </a:rPr>
              <a:t>职责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743200"/>
            <a:ext cx="205740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00" b="0">
                <a:solidFill>
                  <a:srgbClr val="1C2739"/>
                </a:solidFill>
                <a:latin typeface="Microsoft YaHei"/>
              </a:rPr>
              <a:t>识别目的地、日期与偏好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493008"/>
            <a:ext cx="201168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1F5BA8"/>
                </a:solidFill>
                <a:latin typeface="Microsoft YaHei"/>
              </a:rPr>
              <a:t>记忆边界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3749039"/>
            <a:ext cx="2057400" cy="40233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00" b="0">
                <a:solidFill>
                  <a:srgbClr val="1C2739"/>
                </a:solidFill>
                <a:latin typeface="Microsoft YaHei"/>
              </a:rPr>
              <a:t>私有：意图抽取记录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783080"/>
            <a:ext cx="2514600" cy="2880360"/>
          </a:xfrm>
          <a:prstGeom prst="roundRect">
            <a:avLst/>
          </a:prstGeom>
          <a:solidFill>
            <a:srgbClr val="F9FB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20439" y="1783080"/>
            <a:ext cx="2514600" cy="502920"/>
          </a:xfrm>
          <a:prstGeom prst="roundRect">
            <a:avLst/>
          </a:prstGeom>
          <a:solidFill>
            <a:srgbClr val="128F8B"/>
          </a:solidFill>
          <a:ln>
            <a:solidFill>
              <a:srgbClr val="12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39" y="1938528"/>
            <a:ext cx="251460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POI Research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2487168"/>
            <a:ext cx="201168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128F8B"/>
                </a:solidFill>
                <a:latin typeface="Microsoft YaHei"/>
              </a:rPr>
              <a:t>职责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2743200"/>
            <a:ext cx="205740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00" b="0">
                <a:solidFill>
                  <a:srgbClr val="1C2739"/>
                </a:solidFill>
                <a:latin typeface="Microsoft YaHei"/>
              </a:rPr>
              <a:t>只调用 POI 工具并返回候选池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493008"/>
            <a:ext cx="201168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128F8B"/>
                </a:solidFill>
                <a:latin typeface="Microsoft YaHei"/>
              </a:rPr>
              <a:t>记忆边界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3749039"/>
            <a:ext cx="2057400" cy="40233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00" b="0">
                <a:solidFill>
                  <a:srgbClr val="1C2739"/>
                </a:solidFill>
                <a:latin typeface="Microsoft YaHei"/>
              </a:rPr>
              <a:t>私有：检索记录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1783080"/>
            <a:ext cx="2514600" cy="2880360"/>
          </a:xfrm>
          <a:prstGeom prst="roundRect">
            <a:avLst/>
          </a:prstGeom>
          <a:solidFill>
            <a:srgbClr val="F9FB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1783080"/>
            <a:ext cx="2514600" cy="502920"/>
          </a:xfrm>
          <a:prstGeom prst="roundRect">
            <a:avLst/>
          </a:prstGeom>
          <a:solidFill>
            <a:srgbClr val="E87E37"/>
          </a:solidFill>
          <a:ln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938528"/>
            <a:ext cx="251460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Planner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487168"/>
            <a:ext cx="201168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E87E37"/>
                </a:solidFill>
                <a:latin typeface="Microsoft YaHei"/>
              </a:rPr>
              <a:t>职责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743200"/>
            <a:ext cx="205740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00" b="0">
                <a:solidFill>
                  <a:srgbClr val="1C2739"/>
                </a:solidFill>
                <a:latin typeface="Microsoft YaHei"/>
              </a:rPr>
              <a:t>基于候选池生成行程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493008"/>
            <a:ext cx="201168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E87E37"/>
                </a:solidFill>
                <a:latin typeface="Microsoft YaHei"/>
              </a:rPr>
              <a:t>记忆边界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749039"/>
            <a:ext cx="2057400" cy="40233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00" b="0">
                <a:solidFill>
                  <a:srgbClr val="1C2739"/>
                </a:solidFill>
                <a:latin typeface="Microsoft YaHei"/>
              </a:rPr>
              <a:t>私有：规划草案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1159" y="1783080"/>
            <a:ext cx="2514600" cy="2880360"/>
          </a:xfrm>
          <a:prstGeom prst="roundRect">
            <a:avLst/>
          </a:prstGeom>
          <a:solidFill>
            <a:srgbClr val="F9FB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281159" y="1783080"/>
            <a:ext cx="2514600" cy="502920"/>
          </a:xfrm>
          <a:prstGeom prst="roundRect">
            <a:avLst/>
          </a:prstGeom>
          <a:solidFill>
            <a:srgbClr val="C44747"/>
          </a:solidFill>
          <a:ln>
            <a:solidFill>
              <a:srgbClr val="C4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81159" y="1938528"/>
            <a:ext cx="251460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Reviewer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39" y="2487168"/>
            <a:ext cx="201168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C44747"/>
                </a:solidFill>
                <a:latin typeface="Microsoft YaHei"/>
              </a:rPr>
              <a:t>职责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39" y="2743200"/>
            <a:ext cx="205740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00" b="0">
                <a:solidFill>
                  <a:srgbClr val="1C2739"/>
                </a:solidFill>
                <a:latin typeface="Microsoft YaHei"/>
              </a:rPr>
              <a:t>检查候选池、质量与返工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39" y="3493008"/>
            <a:ext cx="201168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C44747"/>
                </a:solidFill>
                <a:latin typeface="Microsoft YaHei"/>
              </a:rPr>
              <a:t>记忆边界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39" y="3749039"/>
            <a:ext cx="2057400" cy="40233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00" b="0">
                <a:solidFill>
                  <a:srgbClr val="1C2739"/>
                </a:solidFill>
                <a:latin typeface="Microsoft YaHei"/>
              </a:rPr>
              <a:t>私有：审核意见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212080"/>
            <a:ext cx="10789920" cy="4114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12648"/>
                </a:solidFill>
                <a:latin typeface="Microsoft YaHei"/>
              </a:rPr>
              <a:t>共享的是“当前任务的结构化消息”；不共享完整 messages 列表。每个 Agent 有独立系统提示、独立实例、独立 memory。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E6C7E"/>
                </a:solidFill>
                <a:latin typeface="Microsoft YaHei"/>
              </a:rPr>
              <a:t>TravelMind · AI 多智能体旅行规划助手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850" b="0">
                <a:solidFill>
                  <a:srgbClr val="5E6C7E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384048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00" b="1">
                <a:solidFill>
                  <a:srgbClr val="1F5BA8"/>
                </a:solidFill>
                <a:latin typeface="Microsoft YaHei"/>
              </a:rPr>
              <a:t>05 · ORCHESTRATION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06424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12648"/>
                </a:solidFill>
                <a:latin typeface="Microsoft YaHei"/>
              </a:rPr>
              <a:t>一次请求如何协作：固定主链路 + 条件路由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481328"/>
            <a:ext cx="960120" cy="50292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48840"/>
            <a:ext cx="1600200" cy="658368"/>
          </a:xfrm>
          <a:prstGeom prst="roundRect">
            <a:avLst/>
          </a:prstGeom>
          <a:solidFill>
            <a:srgbClr val="1F5BA8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59152"/>
            <a:ext cx="160020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1. Intent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2148840"/>
            <a:ext cx="1600200" cy="658368"/>
          </a:xfrm>
          <a:prstGeom prst="roundRect">
            <a:avLst/>
          </a:prstGeom>
          <a:solidFill>
            <a:srgbClr val="128F8B"/>
          </a:solidFill>
          <a:ln>
            <a:solidFill>
              <a:srgbClr val="12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16352" y="2359152"/>
            <a:ext cx="160020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2. POI 检索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46904" y="2148840"/>
            <a:ext cx="1600200" cy="658368"/>
          </a:xfrm>
          <a:prstGeom prst="roundRect">
            <a:avLst/>
          </a:prstGeom>
          <a:solidFill>
            <a:srgbClr val="E87E37"/>
          </a:solidFill>
          <a:ln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46904" y="2359152"/>
            <a:ext cx="160020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3. Planner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77456" y="2148840"/>
            <a:ext cx="1600200" cy="658368"/>
          </a:xfrm>
          <a:prstGeom prst="roundRect">
            <a:avLst/>
          </a:prstGeom>
          <a:solidFill>
            <a:srgbClr val="C44747"/>
          </a:solidFill>
          <a:ln>
            <a:solidFill>
              <a:srgbClr val="C447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77456" y="2359152"/>
            <a:ext cx="160020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4. Reviewer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08008" y="2148840"/>
            <a:ext cx="1600200" cy="658368"/>
          </a:xfrm>
          <a:prstGeom prst="roundRect">
            <a:avLst/>
          </a:prstGeom>
          <a:solidFill>
            <a:srgbClr val="279663"/>
          </a:solidFill>
          <a:ln>
            <a:solidFill>
              <a:srgbClr val="2796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8008" y="2359152"/>
            <a:ext cx="1600200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5. 输出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286000" y="2478024"/>
            <a:ext cx="530352" cy="0"/>
          </a:xfrm>
          <a:prstGeom prst="line">
            <a:avLst/>
          </a:prstGeom>
          <a:ln w="20320">
            <a:solidFill>
              <a:srgbClr val="1F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416552" y="2478024"/>
            <a:ext cx="530352" cy="0"/>
          </a:xfrm>
          <a:prstGeom prst="line">
            <a:avLst/>
          </a:prstGeom>
          <a:ln w="20320">
            <a:solidFill>
              <a:srgbClr val="1F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547104" y="2478024"/>
            <a:ext cx="530352" cy="0"/>
          </a:xfrm>
          <a:prstGeom prst="line">
            <a:avLst/>
          </a:prstGeom>
          <a:ln w="20320">
            <a:solidFill>
              <a:srgbClr val="1F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677656" y="2478024"/>
            <a:ext cx="530352" cy="0"/>
          </a:xfrm>
          <a:prstGeom prst="line">
            <a:avLst/>
          </a:prstGeom>
          <a:ln w="20320">
            <a:solidFill>
              <a:srgbClr val="1F5B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42432" y="2834640"/>
            <a:ext cx="2139695" cy="685800"/>
          </a:xfrm>
          <a:prstGeom prst="line">
            <a:avLst/>
          </a:prstGeom>
          <a:ln w="20320">
            <a:solidFill>
              <a:srgbClr val="C447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23560" y="3584448"/>
            <a:ext cx="237744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00" b="1">
                <a:solidFill>
                  <a:srgbClr val="C44747"/>
                </a:solidFill>
                <a:latin typeface="Microsoft YaHei"/>
              </a:rPr>
              <a:t>未通过 → 最多一次返工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72000"/>
            <a:ext cx="10789920" cy="713232"/>
          </a:xfrm>
          <a:prstGeom prst="roundRect">
            <a:avLst/>
          </a:prstGeom>
          <a:solidFill>
            <a:srgbClr val="FFF6ED"/>
          </a:solidFill>
          <a:ln>
            <a:solidFill>
              <a:srgbClr val="FACE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800600"/>
            <a:ext cx="10149840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00" b="1">
                <a:solidFill>
                  <a:srgbClr val="1C2739"/>
                </a:solidFill>
                <a:latin typeface="Microsoft YaHei"/>
              </a:rPr>
              <a:t>异常路径：某 Agent 超时 → Supervisor 有限重试 → 结构化失败结果 / 前端友好提示；不会让整个系统直接崩溃。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E6C7E"/>
                </a:solidFill>
                <a:latin typeface="Microsoft YaHei"/>
              </a:rPr>
              <a:t>TravelMind · AI 多智能体旅行规划助手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850" b="0">
                <a:solidFill>
                  <a:srgbClr val="5E6C7E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384048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00" b="1">
                <a:solidFill>
                  <a:srgbClr val="1F5BA8"/>
                </a:solidFill>
                <a:latin typeface="Microsoft YaHei"/>
              </a:rPr>
              <a:t>06 · GROUNDING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06424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12648"/>
                </a:solidFill>
                <a:latin typeface="Microsoft YaHei"/>
              </a:rPr>
              <a:t>工具、RAG 与防幻觉设计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481328"/>
            <a:ext cx="960120" cy="50292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52044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37360"/>
            <a:ext cx="73152" cy="3429000"/>
          </a:xfrm>
          <a:prstGeom prst="rect">
            <a:avLst/>
          </a:prstGeom>
          <a:solidFill>
            <a:srgbClr val="1F5BA8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01952"/>
            <a:ext cx="3108960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12648"/>
                </a:solidFill>
                <a:latin typeface="Microsoft YaHei"/>
              </a:rPr>
              <a:t>实时工具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249424"/>
            <a:ext cx="310896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高德 POI：候选景点、餐厅、酒店</a:t>
            </a:r>
          </a:p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高德路线：公交 / 地铁 / 步行等路线补充</a:t>
            </a:r>
          </a:p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天气：按日期提示出行风险</a:t>
            </a:r>
          </a:p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票价：页面实时查询，失败时如实标注未计价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737360"/>
            <a:ext cx="352044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737360"/>
            <a:ext cx="73152" cy="3429000"/>
          </a:xfrm>
          <a:prstGeom prst="rect">
            <a:avLst/>
          </a:prstGeom>
          <a:solidFill>
            <a:srgbClr val="128F8B"/>
          </a:solidFill>
          <a:ln>
            <a:solidFill>
              <a:srgbClr val="12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901952"/>
            <a:ext cx="3108960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12648"/>
                </a:solidFill>
                <a:latin typeface="Microsoft YaHei"/>
              </a:rPr>
              <a:t>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249424"/>
            <a:ext cx="310896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旅行知识库检索后供 Agent 参考</a:t>
            </a:r>
          </a:p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把检索与生成分离：先看召回，再看回答</a:t>
            </a:r>
          </a:p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RAG 不存实时票价，避免过期事实伪装成实时数据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37360"/>
            <a:ext cx="352044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737360"/>
            <a:ext cx="73152" cy="3429000"/>
          </a:xfrm>
          <a:prstGeom prst="rect">
            <a:avLst/>
          </a:prstGeom>
          <a:solidFill>
            <a:srgbClr val="E87E37"/>
          </a:solidFill>
          <a:ln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901952"/>
            <a:ext cx="3108960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12648"/>
                </a:solidFill>
                <a:latin typeface="Microsoft YaHei"/>
              </a:rPr>
              <a:t>约束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2249424"/>
            <a:ext cx="3108960" cy="2807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Planner 只能从候选池选择景点</a:t>
            </a:r>
          </a:p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工具权限按 Agent 区分</a:t>
            </a:r>
          </a:p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保存行程等写操作需要用户确认</a:t>
            </a:r>
          </a:p>
          <a:p>
            <a:pPr>
              <a:spcAft>
                <a:spcPts val="700"/>
              </a:spcAft>
              <a:defRPr sz="1150">
                <a:solidFill>
                  <a:srgbClr val="1C2739"/>
                </a:solidFill>
                <a:latin typeface="Microsoft YaHei"/>
              </a:defRPr>
            </a:pPr>
            <a:r>
              <a:t>• Prompt Injection / 参数错误纳入测试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E6C7E"/>
                </a:solidFill>
                <a:latin typeface="Microsoft YaHei"/>
              </a:rPr>
              <a:t>TravelMind · AI 多智能体旅行规划助手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850" b="0">
                <a:solidFill>
                  <a:srgbClr val="5E6C7E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384048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00" b="1">
                <a:solidFill>
                  <a:srgbClr val="1F5BA8"/>
                </a:solidFill>
                <a:latin typeface="Microsoft YaHei"/>
              </a:rPr>
              <a:t>07 ·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06424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12648"/>
                </a:solidFill>
                <a:latin typeface="Microsoft YaHei"/>
              </a:rPr>
              <a:t>端到端演示：输入、实时播报、可执行行程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481328"/>
            <a:ext cx="960120" cy="50292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规划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00200"/>
            <a:ext cx="3520440" cy="4069080"/>
          </a:xfrm>
          <a:prstGeom prst="rect">
            <a:avLst/>
          </a:prstGeom>
        </p:spPr>
      </p:pic>
      <p:pic>
        <p:nvPicPr>
          <p:cNvPr id="6" name="Picture 5" descr="规划进度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600200"/>
            <a:ext cx="3520440" cy="4069080"/>
          </a:xfrm>
          <a:prstGeom prst="rect">
            <a:avLst/>
          </a:prstGeom>
        </p:spPr>
      </p:pic>
      <p:pic>
        <p:nvPicPr>
          <p:cNvPr id="7" name="Picture 6" descr="规划详情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600200"/>
            <a:ext cx="3520440" cy="4069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5788152"/>
            <a:ext cx="352044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112648"/>
                </a:solidFill>
                <a:latin typeface="Microsoft YaHei"/>
              </a:rPr>
              <a:t>① 自然语言需求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5788152"/>
            <a:ext cx="352044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112648"/>
                </a:solidFill>
                <a:latin typeface="Microsoft YaHei"/>
              </a:rPr>
              <a:t>② Agent 阶段播报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5788152"/>
            <a:ext cx="352044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112648"/>
                </a:solidFill>
                <a:latin typeface="Microsoft YaHei"/>
              </a:rPr>
              <a:t>③ 行程 / 地图 / 预算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E6C7E"/>
                </a:solidFill>
                <a:latin typeface="Microsoft YaHei"/>
              </a:rPr>
              <a:t>TravelMind · AI 多智能体旅行规划助手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850" b="0">
                <a:solidFill>
                  <a:srgbClr val="5E6C7E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384048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00" b="1">
                <a:solidFill>
                  <a:srgbClr val="1F5BA8"/>
                </a:solidFill>
                <a:latin typeface="Microsoft YaHei"/>
              </a:rPr>
              <a:t>08 ·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06424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12648"/>
                </a:solidFill>
                <a:latin typeface="Microsoft YaHei"/>
              </a:rPr>
              <a:t>工程化改进：从“能生成”到“可使用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481328"/>
            <a:ext cx="960120" cy="50292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737360"/>
            <a:ext cx="5166360" cy="1161288"/>
          </a:xfrm>
          <a:prstGeom prst="roundRect">
            <a:avLst/>
          </a:prstGeom>
          <a:solidFill>
            <a:srgbClr val="F8FA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45720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12648"/>
                </a:solidFill>
                <a:latin typeface="Microsoft YaHei"/>
              </a:rPr>
              <a:t>候选池扩展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04288"/>
            <a:ext cx="461772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50" b="0">
                <a:solidFill>
                  <a:srgbClr val="5E6C7E"/>
                </a:solidFill>
                <a:latin typeface="Microsoft YaHei"/>
              </a:rPr>
              <a:t>用户点名景点不在池中时，重新检索并核验后重规划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166360" cy="1161288"/>
          </a:xfrm>
          <a:prstGeom prst="roundRect">
            <a:avLst/>
          </a:prstGeom>
          <a:solidFill>
            <a:srgbClr val="F8FA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938528"/>
            <a:ext cx="45720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12648"/>
                </a:solidFill>
                <a:latin typeface="Microsoft YaHei"/>
              </a:rPr>
              <a:t>交通与费用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04288"/>
            <a:ext cx="461772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50" b="0">
                <a:solidFill>
                  <a:srgbClr val="5E6C7E"/>
                </a:solidFill>
                <a:latin typeface="Microsoft YaHei"/>
              </a:rPr>
              <a:t>路线、餐饮、门票、酒店费用分别标注实时 / 估算来源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46120"/>
            <a:ext cx="5166360" cy="1161288"/>
          </a:xfrm>
          <a:prstGeom prst="roundRect">
            <a:avLst/>
          </a:prstGeom>
          <a:solidFill>
            <a:srgbClr val="F8FA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447288"/>
            <a:ext cx="45720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12648"/>
                </a:solidFill>
                <a:latin typeface="Microsoft YaHei"/>
              </a:rPr>
              <a:t>历史行程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13048"/>
            <a:ext cx="461772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50" b="0">
                <a:solidFill>
                  <a:srgbClr val="5E6C7E"/>
                </a:solidFill>
                <a:latin typeface="Microsoft YaHei"/>
              </a:rPr>
              <a:t>先快速打开历史记录，再在后台实时刷新价格，避免页面卡死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46120"/>
            <a:ext cx="5166360" cy="1161288"/>
          </a:xfrm>
          <a:prstGeom prst="roundRect">
            <a:avLst/>
          </a:prstGeom>
          <a:solidFill>
            <a:srgbClr val="F8FA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447288"/>
            <a:ext cx="45720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400" b="1">
                <a:solidFill>
                  <a:srgbClr val="112648"/>
                </a:solidFill>
                <a:latin typeface="Microsoft YaHei"/>
              </a:rPr>
              <a:t>可观测性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813048"/>
            <a:ext cx="461772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50" b="0">
                <a:solidFill>
                  <a:srgbClr val="5E6C7E"/>
                </a:solidFill>
                <a:latin typeface="Microsoft YaHei"/>
              </a:rPr>
              <a:t>SSE 显示每个阶段的处理结果，便于 Demo 和故障定位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800"/>
            <a:ext cx="1078992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E87E37"/>
                </a:solidFill>
                <a:latin typeface="Microsoft YaHei"/>
              </a:rPr>
              <a:t>原则：实时数据缺失时“明确降级”，而不是编造；所有可量化数字由脚本、日志或报告复现。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E6C7E"/>
                </a:solidFill>
                <a:latin typeface="Microsoft YaHei"/>
              </a:rPr>
              <a:t>TravelMind · AI 多智能体旅行规划助手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850" b="0">
                <a:solidFill>
                  <a:srgbClr val="5E6C7E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384048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00" b="1">
                <a:solidFill>
                  <a:srgbClr val="1F5BA8"/>
                </a:solidFill>
                <a:latin typeface="Microsoft YaHei"/>
              </a:rPr>
              <a:t>09 · TESTING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66928"/>
            <a:ext cx="11064240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600" b="1">
                <a:solidFill>
                  <a:srgbClr val="112648"/>
                </a:solidFill>
                <a:latin typeface="Microsoft YaHei"/>
              </a:rPr>
              <a:t>三层测试、可复现评估与项目结论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481328"/>
            <a:ext cx="960120" cy="50292"/>
          </a:xfrm>
          <a:prstGeom prst="rect">
            <a:avLst/>
          </a:prstGeom>
          <a:solidFill>
            <a:srgbClr val="E8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429000" cy="2880360"/>
          </a:xfrm>
          <a:prstGeom prst="roundRect">
            <a:avLst/>
          </a:prstGeom>
          <a:solidFill>
            <a:srgbClr val="F9FB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429000" cy="530352"/>
          </a:xfrm>
          <a:prstGeom prst="roundRect">
            <a:avLst/>
          </a:prstGeom>
          <a:solidFill>
            <a:srgbClr val="1F5BA8"/>
          </a:solidFill>
          <a:ln>
            <a:solidFill>
              <a:srgbClr val="1F5B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34290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单元测试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615184"/>
            <a:ext cx="2907792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1C2739"/>
                </a:solidFill>
                <a:latin typeface="Microsoft YaHei"/>
              </a:rPr>
              <a:t>Intent / POI Research / Planner
字段、私有记忆、候选池约束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3931920"/>
            <a:ext cx="2907792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00" b="0">
                <a:solidFill>
                  <a:srgbClr val="5E6C7E"/>
                </a:solidFill>
                <a:latin typeface="Microsoft YaHei"/>
              </a:rPr>
              <a:t>Agent 函数正确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43984" y="1783080"/>
            <a:ext cx="3429000" cy="2880360"/>
          </a:xfrm>
          <a:prstGeom prst="roundRect">
            <a:avLst/>
          </a:prstGeom>
          <a:solidFill>
            <a:srgbClr val="F9FB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43984" y="1783080"/>
            <a:ext cx="3429000" cy="530352"/>
          </a:xfrm>
          <a:prstGeom prst="roundRect">
            <a:avLst/>
          </a:prstGeom>
          <a:solidFill>
            <a:srgbClr val="128F8B"/>
          </a:solidFill>
          <a:ln>
            <a:solidFill>
              <a:srgbClr val="128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965960"/>
            <a:ext cx="34290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集成测试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615184"/>
            <a:ext cx="2907792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1C2739"/>
                </a:solidFill>
                <a:latin typeface="Microsoft YaHei"/>
              </a:rPr>
              <a:t>Supervisor 调度、审核返工、工具权限、失败重试、SQLite 隔离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3931920"/>
            <a:ext cx="2907792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00" b="0">
                <a:solidFill>
                  <a:srgbClr val="5E6C7E"/>
                </a:solidFill>
                <a:latin typeface="Microsoft YaHei"/>
              </a:rPr>
              <a:t>链路正确传递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47888" y="1783080"/>
            <a:ext cx="3429000" cy="2880360"/>
          </a:xfrm>
          <a:prstGeom prst="roundRect">
            <a:avLst/>
          </a:prstGeom>
          <a:solidFill>
            <a:srgbClr val="F9FBFD"/>
          </a:solidFill>
          <a:ln>
            <a:solidFill>
              <a:srgbClr val="DA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47888" y="1783080"/>
            <a:ext cx="3429000" cy="530352"/>
          </a:xfrm>
          <a:prstGeom prst="roundRect">
            <a:avLst/>
          </a:prstGeom>
          <a:solidFill>
            <a:srgbClr val="E87E37"/>
          </a:solidFill>
          <a:ln>
            <a:solidFill>
              <a:srgbClr val="E87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965960"/>
            <a:ext cx="34290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端到端测试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2615184"/>
            <a:ext cx="2907792" cy="6858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1">
                <a:solidFill>
                  <a:srgbClr val="1C2739"/>
                </a:solidFill>
                <a:latin typeface="Microsoft YaHei"/>
              </a:rPr>
              <a:t>10 条 Golden Set：用户请求 → 多 Agent → 行程 → Reviewer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3931920"/>
            <a:ext cx="2907792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00" b="0">
                <a:solidFill>
                  <a:srgbClr val="5E6C7E"/>
                </a:solidFill>
                <a:latin typeface="Microsoft YaHei"/>
              </a:rPr>
              <a:t>业务结果可交付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074920"/>
            <a:ext cx="10789920" cy="32918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279663"/>
                </a:solidFill>
                <a:latin typeface="Microsoft YaHei"/>
              </a:rPr>
              <a:t>自动化：68 passed；端到端：10 / 10；LLM-as-Judge：10 条评分完成、通过率 80%、平均 3.00 秒。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59552"/>
            <a:ext cx="1078992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00" b="1">
                <a:solidFill>
                  <a:srgbClr val="112648"/>
                </a:solidFill>
                <a:latin typeface="Microsoft YaHei"/>
              </a:rPr>
              <a:t>结论：TravelMind 将独立角色、受控工具、记忆隔离和可复现评估组合为一条可演示、可验证的 Agent 工程链路。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457200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50" b="0">
                <a:solidFill>
                  <a:srgbClr val="5E6C7E"/>
                </a:solidFill>
                <a:latin typeface="Microsoft YaHei"/>
              </a:rPr>
              <a:t>TravelMind · AI 多智能体旅行规划助手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510528"/>
            <a:ext cx="411480" cy="1828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850" b="0">
                <a:solidFill>
                  <a:srgbClr val="5E6C7E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